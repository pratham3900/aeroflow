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3" r:id="rId1"/>
  </p:sldMasterIdLst>
  <p:notesMasterIdLst>
    <p:notesMasterId r:id="rId12"/>
  </p:notesMasterIdLst>
  <p:sldIdLst>
    <p:sldId id="26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ora" panose="020B0604020202020204" charset="0"/>
      <p:regular r:id="rId13"/>
    </p:embeddedFont>
    <p:embeddedFont>
      <p:font typeface="Sora ExtraLight" panose="020B0604020202020204" charset="0"/>
      <p:regular r:id="rId14"/>
    </p:embeddedFont>
    <p:embeddedFont>
      <p:font typeface="Sora Light" panose="020B0604020202020204" charset="0"/>
      <p:regular r:id="rId15"/>
    </p:embeddedFont>
    <p:embeddedFont>
      <p:font typeface="Sora Semi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891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disruption as a service problem rather than only an operational event. Explain that passengers need connected information and service actions when delays, cancellations, or booking changes occur.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passenger’s first interaction through recovery. Emphasize that the scope includes search, booking, cancellation, rescheduling, documents, QR codes, and relevant email notifications, while limitations remain explicit.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Python and Django connect the passenger interface to operational data. Walk through the listed front-end technologies, back end, database, supporting libraries, and the Passenger/Admin-to-SQLite architecture, including PDF and QR-code generation as supporting services.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eight modules as implemented capabilities. The numbering creates the reading order, while the two-row module map shows that flight operations and passenger services are organized within the same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explain the system boundary. Passenger responsibilities are login, search, booking, viewing bookings, and requesting cancellation or rescheduling. Administrator responsibilities are managing flights, updating flight status, and managing airport information.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slide is a presentation-ready structure for the walkthrough, not evidence by itself. Replace each placeholder with a real project screen when available, and keep the captions tied to demonstrated functionality.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workflow in order. The important transition is from passenger input to validation, then booking creation and confirmation. A database relationship diagram is intentionally marked as a placeholder until the actual Django models and relationships are available.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testing areas from the results. Because actual project results were not provided, every result is visibly marked as “Results to be added.” Close by distinguishing future enhancements from implemented modules.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as a full-stack approach to disruption-aware passenger service. Reinforce the connection between workflows, Python, Django, SQLite, and the learning outcomes. End with Thank You and invite Questions &amp; Answers.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2F0A-8AC6-4C86-BBFD-D78DF4BBB5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DBB477-BDEE-D67C-D858-9A98FBCF09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33A528-09FC-D01A-B625-8973D544C3D1}"/>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044FAB87-A6FF-6AC3-AD8A-B4C1EF8D17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3F5479-F42F-373F-0E13-526F6B6934C1}"/>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366408430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93E16-CC9A-B690-1855-3BADAC8EF1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7F5945-4BCA-0027-FFE3-BA0DCE5FC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63CA63-A75C-D2A8-E546-4FB1287DFD4A}"/>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6E1D01D2-BCDB-0B2E-8974-9FC5D086E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6108B3-EF72-99FA-B44B-FF0E0CC53578}"/>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280507903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EA376-CB9B-FE62-1D33-3DCA01BF0B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41B9ED-A95C-6AF6-B5A6-7EAC927D6D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52AC03-8BD2-9C05-FDF8-E8E9DB897DD3}"/>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35AD1E31-733A-A8D3-C9E0-DA9BB39B1C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23A61E-60BF-DE46-C433-35A0CBAEDF4B}"/>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2113889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7A257-D833-DCC3-22C2-322910C0CF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D493F4-F4CF-4683-753E-8718B64CAC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FA6751-ECFD-230F-94AD-595E9225E5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6EF2F9-9C43-E7B2-2C86-0F1992F1AC04}"/>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6" name="Footer Placeholder 5">
            <a:extLst>
              <a:ext uri="{FF2B5EF4-FFF2-40B4-BE49-F238E27FC236}">
                <a16:creationId xmlns:a16="http://schemas.microsoft.com/office/drawing/2014/main" id="{D51B6145-4696-D7B8-21DA-4B0E9064A2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7D71E1-7939-EA55-59DB-336E5397BA59}"/>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361874963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B7BAF-2B9B-B47A-7EC1-82103CBC29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D2727-236C-5055-E660-B1DA93E2B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28A50C-380A-2EA9-75B0-A688C7789C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CBF990-6709-F04D-FA22-BBF4F1EA3E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3B90EF-0A3C-101E-2D42-3C3CF834C4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A10E5A-53EB-482A-2218-32695CD00813}"/>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8" name="Footer Placeholder 7">
            <a:extLst>
              <a:ext uri="{FF2B5EF4-FFF2-40B4-BE49-F238E27FC236}">
                <a16:creationId xmlns:a16="http://schemas.microsoft.com/office/drawing/2014/main" id="{FBB74C86-DD71-B820-A1DE-DE9F917940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04AF37-1B2C-FEF7-B2F8-D0F1CC97C611}"/>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7500746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E01C-D1BF-55E4-9A1F-1F0010B502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1CD0B9-1DE6-7F80-095E-1E32E7352D40}"/>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4" name="Footer Placeholder 3">
            <a:extLst>
              <a:ext uri="{FF2B5EF4-FFF2-40B4-BE49-F238E27FC236}">
                <a16:creationId xmlns:a16="http://schemas.microsoft.com/office/drawing/2014/main" id="{9A4472D3-850B-5264-A937-5B768B72E0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82AC6E-DD50-5263-5A52-B61BFB1CA2BD}"/>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35621434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9AD182-4827-7395-217D-EAA39BFFA09F}"/>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3" name="Footer Placeholder 2">
            <a:extLst>
              <a:ext uri="{FF2B5EF4-FFF2-40B4-BE49-F238E27FC236}">
                <a16:creationId xmlns:a16="http://schemas.microsoft.com/office/drawing/2014/main" id="{EC7EAE8C-77FB-4631-4D4E-1288BDF59D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B93E6A-8050-B529-5CDA-EC3D76CA04E6}"/>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1666013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AE068-AA9C-2A6B-5610-A78C56AEC0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FF21B6-B8BC-FACB-6E02-161D91F5E8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C8C38C-369D-91F4-0EF0-0E89BB095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5A06BC-43E6-241C-2469-A7DCDCF5EAD7}"/>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6" name="Footer Placeholder 5">
            <a:extLst>
              <a:ext uri="{FF2B5EF4-FFF2-40B4-BE49-F238E27FC236}">
                <a16:creationId xmlns:a16="http://schemas.microsoft.com/office/drawing/2014/main" id="{197EE3EC-F43A-4CF5-8A2F-7253D73E61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407062-E69A-270A-36E1-BE8C97E777AA}"/>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40463737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C0053-C9B1-115E-9186-B4238C122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3FE44A-EF60-5731-2E5B-A6D185DA269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08B683-6F1E-7D34-47B0-778134C66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C6A290-B6B5-DCE4-5D73-B25FACF45D63}"/>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6" name="Footer Placeholder 5">
            <a:extLst>
              <a:ext uri="{FF2B5EF4-FFF2-40B4-BE49-F238E27FC236}">
                <a16:creationId xmlns:a16="http://schemas.microsoft.com/office/drawing/2014/main" id="{53C31B7D-B4C9-18CA-A618-29CD61E21A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39DB4A-9E0F-FD21-8D66-104D38880C94}"/>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40764765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163E0-5185-5F0C-4B36-5F0F0ADFE9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0B197D-DB59-82B1-5006-899350D4A7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A4EFF3-509C-5BF8-2B2B-75180B29E0CF}"/>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CF8E69B4-9192-2DE1-80B8-07152091DE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9530C-6F78-D033-7227-4E51736C9D80}"/>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29314961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CA7D07-9D74-2903-ADA0-3E1D4D05D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BB14AF-47F5-35B5-8957-451C7A1B10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7A0B1D-94DC-B7D4-1938-9A02AE3BEF1F}"/>
              </a:ext>
            </a:extLst>
          </p:cNvPr>
          <p:cNvSpPr>
            <a:spLocks noGrp="1"/>
          </p:cNvSpPr>
          <p:nvPr>
            <p:ph type="dt" sz="half" idx="10"/>
          </p:nvPr>
        </p:nvSpPr>
        <p:spPr/>
        <p:txBody>
          <a:body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05819B67-13DB-EC87-EDF6-5E0C7A1D6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9AD35A-63B5-C77C-1898-5A2BCBB23AE6}"/>
              </a:ext>
            </a:extLst>
          </p:cNvPr>
          <p:cNvSpPr>
            <a:spLocks noGrp="1"/>
          </p:cNvSpPr>
          <p:nvPr>
            <p:ph type="sldNum" sz="quarter" idx="12"/>
          </p:nvPr>
        </p:nvSpPr>
        <p:spPr/>
        <p:txBody>
          <a:bodyPr/>
          <a:lstStyle/>
          <a:p>
            <a:fld id="{BA2961AC-88A4-4652-9A93-C4F5351D38B0}" type="slidenum">
              <a:rPr lang="en-IN" smtClean="0"/>
              <a:t>‹#›</a:t>
            </a:fld>
            <a:endParaRPr lang="en-IN"/>
          </a:p>
        </p:txBody>
      </p:sp>
    </p:spTree>
    <p:extLst>
      <p:ext uri="{BB962C8B-B14F-4D97-AF65-F5344CB8AC3E}">
        <p14:creationId xmlns:p14="http://schemas.microsoft.com/office/powerpoint/2010/main" val="2288801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2">
    <p:bg>
      <p:bgPr>
        <a:solidFill>
          <a:srgbClr val="FAFBF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52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3">
    <p:bg>
      <p:bgPr>
        <a:solidFill>
          <a:srgbClr val="FAFBF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3586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4ABEF3-CD1A-DC03-3D7D-E88A455F5C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2AB07E-2CB8-1451-502E-47E21789D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60831-6DCC-F5FD-485A-9DFA18B7E4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44718D-7AF9-4F9E-A9CE-20F9440386EA}" type="datetimeFigureOut">
              <a:rPr lang="en-IN" smtClean="0"/>
              <a:t>23-10-2026</a:t>
            </a:fld>
            <a:endParaRPr lang="en-IN"/>
          </a:p>
        </p:txBody>
      </p:sp>
      <p:sp>
        <p:nvSpPr>
          <p:cNvPr id="5" name="Footer Placeholder 4">
            <a:extLst>
              <a:ext uri="{FF2B5EF4-FFF2-40B4-BE49-F238E27FC236}">
                <a16:creationId xmlns:a16="http://schemas.microsoft.com/office/drawing/2014/main" id="{E6BB1053-FBCA-E63D-0EB2-0868C477F4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C103A8-7AC8-3530-0590-33FB6FF45C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2961AC-88A4-4652-9A93-C4F5351D38B0}" type="slidenum">
              <a:rPr lang="en-IN" smtClean="0"/>
              <a:t>‹#›</a:t>
            </a:fld>
            <a:endParaRPr lang="en-IN"/>
          </a:p>
        </p:txBody>
      </p:sp>
    </p:spTree>
    <p:extLst>
      <p:ext uri="{BB962C8B-B14F-4D97-AF65-F5344CB8AC3E}">
        <p14:creationId xmlns:p14="http://schemas.microsoft.com/office/powerpoint/2010/main" val="264723092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D2AE6C3-31EE-B9EB-6349-30B46E29443C}"/>
              </a:ext>
            </a:extLst>
          </p:cNvPr>
          <p:cNvSpPr/>
          <p:nvPr/>
        </p:nvSpPr>
        <p:spPr>
          <a:xfrm>
            <a:off x="781030" y="788353"/>
            <a:ext cx="7632509" cy="186630"/>
          </a:xfrm>
          <a:prstGeom prst="rect">
            <a:avLst/>
          </a:prstGeom>
          <a:noFill/>
          <a:ln/>
        </p:spPr>
        <p:txBody>
          <a:bodyPr wrap="none" lIns="0" tIns="0" rIns="0" bIns="0" rtlCol="0" anchor="t"/>
          <a:lstStyle/>
          <a:p>
            <a:pPr marL="0" indent="0" algn="l">
              <a:lnSpc>
                <a:spcPct val="117000"/>
              </a:lnSpc>
              <a:buNone/>
            </a:pPr>
            <a:r>
              <a:rPr lang="en-US" sz="1050" kern="10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MCA PROJECT VIVA</a:t>
            </a:r>
            <a:endParaRPr lang="en-US" sz="1050" dirty="0">
              <a:ln w="0"/>
              <a:effectLst>
                <a:outerShdw blurRad="38100" dist="19050" dir="2700000" algn="tl" rotWithShape="0">
                  <a:schemeClr val="dk1">
                    <a:alpha val="40000"/>
                  </a:schemeClr>
                </a:outerShdw>
              </a:effectLst>
            </a:endParaRPr>
          </a:p>
        </p:txBody>
      </p:sp>
      <p:sp>
        <p:nvSpPr>
          <p:cNvPr id="5" name="Text 1">
            <a:extLst>
              <a:ext uri="{FF2B5EF4-FFF2-40B4-BE49-F238E27FC236}">
                <a16:creationId xmlns:a16="http://schemas.microsoft.com/office/drawing/2014/main" id="{7B79465D-D2C5-529A-78E6-A0E18281E545}"/>
              </a:ext>
            </a:extLst>
          </p:cNvPr>
          <p:cNvSpPr/>
          <p:nvPr/>
        </p:nvSpPr>
        <p:spPr>
          <a:xfrm>
            <a:off x="781030" y="1131193"/>
            <a:ext cx="7022924" cy="939800"/>
          </a:xfrm>
          <a:prstGeom prst="rect">
            <a:avLst/>
          </a:prstGeom>
          <a:noFill/>
          <a:ln/>
        </p:spPr>
        <p:txBody>
          <a:bodyPr wrap="none" lIns="0" tIns="0" rIns="0" bIns="0" rtlCol="0" anchor="t"/>
          <a:lstStyle/>
          <a:p>
            <a:pPr marL="0" indent="0" algn="l">
              <a:lnSpc>
                <a:spcPct val="83000"/>
              </a:lnSpc>
              <a:buNone/>
            </a:pPr>
            <a:r>
              <a:rPr lang="en-US" sz="740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AeroFlow</a:t>
            </a:r>
            <a:endParaRPr lang="en-US" sz="7400" dirty="0">
              <a:ln w="0"/>
              <a:effectLst>
                <a:outerShdw blurRad="38100" dist="19050" dir="2700000" algn="tl" rotWithShape="0">
                  <a:schemeClr val="dk1">
                    <a:alpha val="40000"/>
                  </a:schemeClr>
                </a:outerShdw>
              </a:effectLst>
            </a:endParaRPr>
          </a:p>
        </p:txBody>
      </p:sp>
      <p:sp>
        <p:nvSpPr>
          <p:cNvPr id="7" name="Text 2">
            <a:extLst>
              <a:ext uri="{FF2B5EF4-FFF2-40B4-BE49-F238E27FC236}">
                <a16:creationId xmlns:a16="http://schemas.microsoft.com/office/drawing/2014/main" id="{7136DB74-B69E-ABB5-3501-AEF2C8D1A870}"/>
              </a:ext>
            </a:extLst>
          </p:cNvPr>
          <p:cNvSpPr/>
          <p:nvPr/>
        </p:nvSpPr>
        <p:spPr>
          <a:xfrm>
            <a:off x="781030" y="2166878"/>
            <a:ext cx="7022924" cy="782241"/>
          </a:xfrm>
          <a:prstGeom prst="rect">
            <a:avLst/>
          </a:prstGeom>
          <a:noFill/>
          <a:ln/>
        </p:spPr>
        <p:txBody>
          <a:bodyPr wrap="square" lIns="0" tIns="0" rIns="0" bIns="0" rtlCol="0" anchor="t">
            <a:normAutofit lnSpcReduction="10000"/>
          </a:bodyPr>
          <a:lstStyle/>
          <a:p>
            <a:pPr marL="0" indent="0" algn="l">
              <a:lnSpc>
                <a:spcPct val="92000"/>
              </a:lnSpc>
              <a:buNone/>
            </a:pPr>
            <a:r>
              <a:rPr lang="en-US" sz="2800" dirty="0">
                <a:ln w="0"/>
                <a:effectLst>
                  <a:outerShdw blurRad="38100" dist="19050" dir="2700000" algn="tl" rotWithShape="0">
                    <a:schemeClr val="dk1">
                      <a:alpha val="40000"/>
                    </a:schemeClr>
                  </a:outerShdw>
                </a:effectLst>
                <a:latin typeface="Sora Light" pitchFamily="34" charset="0"/>
                <a:ea typeface="Sora Light" pitchFamily="34" charset="-122"/>
                <a:cs typeface="Sora Light" pitchFamily="34" charset="0"/>
              </a:rPr>
              <a:t>Flight Disruption Recovery &amp; Passenger Service Platform</a:t>
            </a:r>
            <a:endParaRPr lang="en-US" sz="2800" dirty="0">
              <a:ln w="0"/>
              <a:effectLst>
                <a:outerShdw blurRad="38100" dist="19050" dir="2700000" algn="tl" rotWithShape="0">
                  <a:schemeClr val="dk1">
                    <a:alpha val="40000"/>
                  </a:schemeClr>
                </a:outerShdw>
              </a:effectLst>
            </a:endParaRPr>
          </a:p>
        </p:txBody>
      </p:sp>
      <p:sp>
        <p:nvSpPr>
          <p:cNvPr id="9" name="Text 3">
            <a:extLst>
              <a:ext uri="{FF2B5EF4-FFF2-40B4-BE49-F238E27FC236}">
                <a16:creationId xmlns:a16="http://schemas.microsoft.com/office/drawing/2014/main" id="{A52652DB-35E6-15D2-90E8-12AA3B9534C9}"/>
              </a:ext>
            </a:extLst>
          </p:cNvPr>
          <p:cNvSpPr/>
          <p:nvPr/>
        </p:nvSpPr>
        <p:spPr>
          <a:xfrm>
            <a:off x="781030" y="3156446"/>
            <a:ext cx="7022924" cy="905272"/>
          </a:xfrm>
          <a:prstGeom prst="rect">
            <a:avLst/>
          </a:prstGeom>
          <a:noFill/>
          <a:ln/>
        </p:spPr>
        <p:txBody>
          <a:bodyPr wrap="square" lIns="0" tIns="0" rIns="0" bIns="0" rtlCol="0" anchor="t"/>
          <a:lstStyle/>
          <a:p>
            <a:pPr marL="0" indent="0" algn="l">
              <a:lnSpc>
                <a:spcPct val="117000"/>
              </a:lnSpc>
              <a:spcAft>
                <a:spcPts val="1200"/>
              </a:spcAft>
              <a:buNone/>
            </a:pPr>
            <a:r>
              <a:rPr lang="en-US" sz="140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CHARUSAT University | CMPICA</a:t>
            </a:r>
            <a:endParaRPr lang="en-US" sz="1400" dirty="0">
              <a:ln w="0"/>
              <a:effectLst>
                <a:outerShdw blurRad="38100" dist="19050" dir="2700000" algn="tl" rotWithShape="0">
                  <a:schemeClr val="dk1">
                    <a:alpha val="40000"/>
                  </a:schemeClr>
                </a:outerShdw>
              </a:effectLst>
            </a:endParaRPr>
          </a:p>
          <a:p>
            <a:pPr marL="0" indent="0" algn="l">
              <a:lnSpc>
                <a:spcPct val="117000"/>
              </a:lnSpc>
              <a:buNone/>
            </a:pPr>
            <a:r>
              <a:rPr lang="en-US" sz="140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Pratham Sunilkumar Danawala — 25MCA046</a:t>
            </a:r>
            <a:endParaRPr lang="en-US" sz="1400" dirty="0">
              <a:ln w="0"/>
              <a:effectLst>
                <a:outerShdw blurRad="38100" dist="19050" dir="2700000" algn="tl" rotWithShape="0">
                  <a:schemeClr val="dk1">
                    <a:alpha val="40000"/>
                  </a:schemeClr>
                </a:outerShdw>
              </a:effectLst>
            </a:endParaRPr>
          </a:p>
          <a:p>
            <a:pPr marL="0" indent="0" algn="l">
              <a:lnSpc>
                <a:spcPct val="117000"/>
              </a:lnSpc>
              <a:buNone/>
            </a:pPr>
            <a:r>
              <a:rPr lang="en-US" sz="140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Ajay Bhanushali — 25MCA029</a:t>
            </a:r>
            <a:endParaRPr lang="en-US" sz="1400" dirty="0">
              <a:ln w="0"/>
              <a:effectLst>
                <a:outerShdw blurRad="38100" dist="19050" dir="2700000" algn="tl" rotWithShape="0">
                  <a:schemeClr val="dk1">
                    <a:alpha val="40000"/>
                  </a:schemeClr>
                </a:outerShdw>
              </a:effectLst>
            </a:endParaRPr>
          </a:p>
        </p:txBody>
      </p:sp>
      <p:sp>
        <p:nvSpPr>
          <p:cNvPr id="11" name="Text 4">
            <a:extLst>
              <a:ext uri="{FF2B5EF4-FFF2-40B4-BE49-F238E27FC236}">
                <a16:creationId xmlns:a16="http://schemas.microsoft.com/office/drawing/2014/main" id="{A1D61F17-9302-E2C0-DDFC-D83A4A428638}"/>
              </a:ext>
            </a:extLst>
          </p:cNvPr>
          <p:cNvSpPr/>
          <p:nvPr/>
        </p:nvSpPr>
        <p:spPr>
          <a:xfrm>
            <a:off x="557095" y="4269045"/>
            <a:ext cx="7632509" cy="186630"/>
          </a:xfrm>
          <a:prstGeom prst="rect">
            <a:avLst/>
          </a:prstGeom>
          <a:noFill/>
          <a:ln/>
        </p:spPr>
        <p:txBody>
          <a:bodyPr wrap="none" lIns="0" tIns="0" rIns="0" bIns="0" rtlCol="0" anchor="t"/>
          <a:lstStyle/>
          <a:p>
            <a:pPr marL="0" indent="0" algn="l">
              <a:lnSpc>
                <a:spcPct val="117000"/>
              </a:lnSpc>
              <a:buNone/>
            </a:pPr>
            <a:r>
              <a:rPr lang="en-US" sz="1050" dirty="0">
                <a:ln w="0"/>
                <a:effectLst>
                  <a:outerShdw blurRad="38100" dist="19050" dir="2700000" algn="tl" rotWithShape="0">
                    <a:schemeClr val="dk1">
                      <a:alpha val="40000"/>
                    </a:schemeClr>
                  </a:outerShdw>
                </a:effectLst>
                <a:latin typeface="Sora ExtraLight" pitchFamily="34" charset="0"/>
                <a:ea typeface="Sora ExtraLight" pitchFamily="34" charset="-122"/>
                <a:cs typeface="Sora ExtraLight" pitchFamily="34" charset="0"/>
              </a:rPr>
              <a:t>Project guide: [Name to be added] | Academic year: [Year to be added]</a:t>
            </a:r>
            <a:endParaRPr lang="en-US" sz="105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95648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2E6E9E"/>
          </a:solidFill>
          <a:ln/>
        </p:spPr>
      </p:sp>
      <p:sp>
        <p:nvSpPr>
          <p:cNvPr id="3" name="Text 1"/>
          <p:cNvSpPr/>
          <p:nvPr/>
        </p:nvSpPr>
        <p:spPr>
          <a:xfrm>
            <a:off x="457189" y="1166773"/>
            <a:ext cx="685782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Sora ExtraLight" pitchFamily="34" charset="0"/>
                <a:ea typeface="Sora ExtraLight" pitchFamily="34" charset="-122"/>
                <a:cs typeface="Sora ExtraLight" pitchFamily="34" charset="0"/>
              </a:rPr>
              <a:t>THE SERVICE PROBLEM</a:t>
            </a:r>
            <a:endParaRPr lang="en-US" sz="1050" dirty="0"/>
          </a:p>
        </p:txBody>
      </p:sp>
      <p:sp>
        <p:nvSpPr>
          <p:cNvPr id="4" name="Text 2"/>
          <p:cNvSpPr/>
          <p:nvPr/>
        </p:nvSpPr>
        <p:spPr>
          <a:xfrm>
            <a:off x="457189" y="1450487"/>
            <a:ext cx="6400640"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FFFFFF"/>
                </a:solidFill>
                <a:latin typeface="Sora Light" pitchFamily="34" charset="0"/>
                <a:ea typeface="Sora Light" pitchFamily="34" charset="-122"/>
                <a:cs typeface="Sora Light" pitchFamily="34" charset="0"/>
              </a:rPr>
              <a:t>Flight disruption turns a simple journey into a service problem</a:t>
            </a:r>
            <a:endParaRPr lang="en-US" sz="3200" dirty="0"/>
          </a:p>
        </p:txBody>
      </p:sp>
      <p:sp>
        <p:nvSpPr>
          <p:cNvPr id="5" name="Shape 3"/>
          <p:cNvSpPr/>
          <p:nvPr/>
        </p:nvSpPr>
        <p:spPr>
          <a:xfrm>
            <a:off x="457189" y="2541687"/>
            <a:ext cx="2112116" cy="38100"/>
          </a:xfrm>
          <a:prstGeom prst="roundRect">
            <a:avLst>
              <a:gd name="adj" fmla="val 49999"/>
            </a:avLst>
          </a:prstGeom>
          <a:solidFill>
            <a:srgbClr val="FFFFFF"/>
          </a:solidFill>
          <a:ln/>
        </p:spPr>
      </p:sp>
      <p:sp>
        <p:nvSpPr>
          <p:cNvPr id="6" name="Text 4"/>
          <p:cNvSpPr/>
          <p:nvPr/>
        </p:nvSpPr>
        <p:spPr>
          <a:xfrm>
            <a:off x="457189" y="2782987"/>
            <a:ext cx="640064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Sora ExtraLight" pitchFamily="34" charset="0"/>
                <a:ea typeface="Sora ExtraLight" pitchFamily="34" charset="-122"/>
                <a:cs typeface="Sora ExtraLight" pitchFamily="34" charset="0"/>
              </a:rPr>
              <a:t>AeroFlow is a web-based flight management and passenger service application.</a:t>
            </a:r>
            <a:endParaRPr lang="en-US" sz="1400" dirty="0"/>
          </a:p>
        </p:txBody>
      </p:sp>
      <p:sp>
        <p:nvSpPr>
          <p:cNvPr id="7" name="Text 5"/>
          <p:cNvSpPr/>
          <p:nvPr/>
        </p:nvSpPr>
        <p:spPr>
          <a:xfrm>
            <a:off x="457189" y="3598168"/>
            <a:ext cx="6400640"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Sora Light" pitchFamily="34" charset="0"/>
                <a:ea typeface="Sora Light" pitchFamily="34" charset="-122"/>
                <a:cs typeface="Sora Light" pitchFamily="34" charset="0"/>
              </a:rPr>
              <a:t>Fragmented information</a:t>
            </a:r>
            <a:endParaRPr lang="en-US" sz="2000" dirty="0"/>
          </a:p>
        </p:txBody>
      </p:sp>
      <p:sp>
        <p:nvSpPr>
          <p:cNvPr id="8" name="Text 6"/>
          <p:cNvSpPr/>
          <p:nvPr/>
        </p:nvSpPr>
        <p:spPr>
          <a:xfrm>
            <a:off x="457189" y="3988693"/>
            <a:ext cx="640064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Sora ExtraLight" pitchFamily="34" charset="0"/>
                <a:ea typeface="Sora ExtraLight" pitchFamily="34" charset="-122"/>
                <a:cs typeface="Sora ExtraLight" pitchFamily="34" charset="0"/>
              </a:rPr>
              <a:t>Delays, cancellations, and booking changes create fragmented passenger information and service needs.</a:t>
            </a:r>
            <a:endParaRPr lang="en-US" sz="1400" dirty="0"/>
          </a:p>
        </p:txBody>
      </p:sp>
      <p:sp>
        <p:nvSpPr>
          <p:cNvPr id="9" name="Text 7"/>
          <p:cNvSpPr/>
          <p:nvPr/>
        </p:nvSpPr>
        <p:spPr>
          <a:xfrm>
            <a:off x="457189" y="4803874"/>
            <a:ext cx="6400640"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Sora Light" pitchFamily="34" charset="0"/>
                <a:ea typeface="Sora Light" pitchFamily="34" charset="-122"/>
                <a:cs typeface="Sora Light" pitchFamily="34" charset="0"/>
              </a:rPr>
              <a:t>One place to respond</a:t>
            </a:r>
            <a:endParaRPr lang="en-US" sz="2000" dirty="0"/>
          </a:p>
        </p:txBody>
      </p:sp>
      <p:sp>
        <p:nvSpPr>
          <p:cNvPr id="10" name="Text 8"/>
          <p:cNvSpPr/>
          <p:nvPr/>
        </p:nvSpPr>
        <p:spPr>
          <a:xfrm>
            <a:off x="457189" y="5194399"/>
            <a:ext cx="640064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Sora ExtraLight" pitchFamily="34" charset="0"/>
                <a:ea typeface="Sora ExtraLight" pitchFamily="34" charset="-122"/>
                <a:cs typeface="Sora ExtraLight" pitchFamily="34" charset="0"/>
              </a:rPr>
              <a:t>The platform organizes flight information, bookings, and disruption-related workflows in one place.</a:t>
            </a:r>
            <a:endParaRPr lang="en-US" sz="1400" dirty="0"/>
          </a:p>
        </p:txBody>
      </p:sp>
      <p:pic>
        <p:nvPicPr>
          <p:cNvPr id="11"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524728"/>
            <a:ext cx="5410065"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PLATFORM SCOPE</a:t>
            </a:r>
            <a:endParaRPr lang="en-US" sz="1050" dirty="0"/>
          </a:p>
        </p:txBody>
      </p:sp>
      <p:sp>
        <p:nvSpPr>
          <p:cNvPr id="3" name="Text 1"/>
          <p:cNvSpPr/>
          <p:nvPr/>
        </p:nvSpPr>
        <p:spPr>
          <a:xfrm>
            <a:off x="457189" y="820579"/>
            <a:ext cx="5410065" cy="4023122"/>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0A3A5C"/>
                </a:solidFill>
                <a:latin typeface="Sora Light" pitchFamily="34" charset="0"/>
                <a:ea typeface="Sora Light" pitchFamily="34" charset="-122"/>
                <a:cs typeface="Sora Light" pitchFamily="34" charset="0"/>
              </a:rPr>
              <a:t>AeroFlow centralizes the passenger journey from search to recovery</a:t>
            </a:r>
            <a:endParaRPr lang="en-US" sz="4800" dirty="0"/>
          </a:p>
        </p:txBody>
      </p:sp>
      <p:sp>
        <p:nvSpPr>
          <p:cNvPr id="4" name="Text 2"/>
          <p:cNvSpPr/>
          <p:nvPr/>
        </p:nvSpPr>
        <p:spPr>
          <a:xfrm>
            <a:off x="457189" y="4984353"/>
            <a:ext cx="541006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One web application connects the core passenger and disruption workflows.</a:t>
            </a:r>
            <a:endParaRPr lang="en-US" sz="1400" dirty="0"/>
          </a:p>
        </p:txBody>
      </p:sp>
      <p:pic>
        <p:nvPicPr>
          <p:cNvPr id="5" name="Image 0" descr="preencoded.png"/>
          <p:cNvPicPr>
            <a:picLocks noChangeAspect="1"/>
          </p:cNvPicPr>
          <p:nvPr/>
        </p:nvPicPr>
        <p:blipFill>
          <a:blip r:embed="rId3"/>
          <a:stretch>
            <a:fillRect/>
          </a:stretch>
        </p:blipFill>
        <p:spPr>
          <a:xfrm>
            <a:off x="6324442" y="523776"/>
            <a:ext cx="444489" cy="444500"/>
          </a:xfrm>
          <a:prstGeom prst="rect">
            <a:avLst/>
          </a:prstGeom>
        </p:spPr>
      </p:pic>
      <p:sp>
        <p:nvSpPr>
          <p:cNvPr id="6" name="Text 3"/>
          <p:cNvSpPr/>
          <p:nvPr/>
        </p:nvSpPr>
        <p:spPr>
          <a:xfrm>
            <a:off x="6324442" y="1085116"/>
            <a:ext cx="2552636"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Flight and airport information</a:t>
            </a:r>
            <a:endParaRPr lang="en-US" sz="1700" dirty="0"/>
          </a:p>
        </p:txBody>
      </p:sp>
      <p:sp>
        <p:nvSpPr>
          <p:cNvPr id="7" name="Text 4"/>
          <p:cNvSpPr/>
          <p:nvPr/>
        </p:nvSpPr>
        <p:spPr>
          <a:xfrm>
            <a:off x="6324442" y="1674912"/>
            <a:ext cx="255263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Centralize flight and airport information.</a:t>
            </a:r>
            <a:endParaRPr lang="en-US" sz="1400" dirty="0"/>
          </a:p>
        </p:txBody>
      </p:sp>
      <p:pic>
        <p:nvPicPr>
          <p:cNvPr id="8" name="Image 1" descr="preencoded.png"/>
          <p:cNvPicPr>
            <a:picLocks noChangeAspect="1"/>
          </p:cNvPicPr>
          <p:nvPr/>
        </p:nvPicPr>
        <p:blipFill>
          <a:blip r:embed="rId4"/>
          <a:stretch>
            <a:fillRect/>
          </a:stretch>
        </p:blipFill>
        <p:spPr>
          <a:xfrm>
            <a:off x="9181870" y="523776"/>
            <a:ext cx="444489" cy="444500"/>
          </a:xfrm>
          <a:prstGeom prst="rect">
            <a:avLst/>
          </a:prstGeom>
        </p:spPr>
      </p:pic>
      <p:sp>
        <p:nvSpPr>
          <p:cNvPr id="9" name="Text 5"/>
          <p:cNvSpPr/>
          <p:nvPr/>
        </p:nvSpPr>
        <p:spPr>
          <a:xfrm>
            <a:off x="9181870" y="1085116"/>
            <a:ext cx="2552636" cy="237430"/>
          </a:xfrm>
          <a:prstGeom prst="rect">
            <a:avLst/>
          </a:prstGeom>
          <a:noFill/>
          <a:ln/>
        </p:spPr>
        <p:txBody>
          <a:bodyPr wrap="none" lIns="0" tIns="0" rIns="0" bIns="0" rtlCol="0" anchor="t"/>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Passenger access</a:t>
            </a:r>
            <a:endParaRPr lang="en-US" sz="1700" dirty="0"/>
          </a:p>
        </p:txBody>
      </p:sp>
      <p:sp>
        <p:nvSpPr>
          <p:cNvPr id="10" name="Text 6"/>
          <p:cNvSpPr/>
          <p:nvPr/>
        </p:nvSpPr>
        <p:spPr>
          <a:xfrm>
            <a:off x="9181870" y="1437481"/>
            <a:ext cx="255263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Support registration, login, flight search, and booking.</a:t>
            </a:r>
            <a:endParaRPr lang="en-US" sz="1400" dirty="0"/>
          </a:p>
        </p:txBody>
      </p:sp>
      <p:pic>
        <p:nvPicPr>
          <p:cNvPr id="11" name="Image 2" descr="preencoded.png"/>
          <p:cNvPicPr>
            <a:picLocks noChangeAspect="1"/>
          </p:cNvPicPr>
          <p:nvPr/>
        </p:nvPicPr>
        <p:blipFill>
          <a:blip r:embed="rId5"/>
          <a:stretch>
            <a:fillRect/>
          </a:stretch>
        </p:blipFill>
        <p:spPr>
          <a:xfrm>
            <a:off x="6324442" y="2477393"/>
            <a:ext cx="444489" cy="444500"/>
          </a:xfrm>
          <a:prstGeom prst="rect">
            <a:avLst/>
          </a:prstGeom>
        </p:spPr>
      </p:pic>
      <p:sp>
        <p:nvSpPr>
          <p:cNvPr id="12" name="Text 7"/>
          <p:cNvSpPr/>
          <p:nvPr/>
        </p:nvSpPr>
        <p:spPr>
          <a:xfrm>
            <a:off x="6324442" y="3038733"/>
            <a:ext cx="2552636" cy="237430"/>
          </a:xfrm>
          <a:prstGeom prst="rect">
            <a:avLst/>
          </a:prstGeom>
          <a:noFill/>
          <a:ln/>
        </p:spPr>
        <p:txBody>
          <a:bodyPr wrap="none" lIns="0" tIns="0" rIns="0" bIns="0" rtlCol="0" anchor="t"/>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Recovery workflows</a:t>
            </a:r>
            <a:endParaRPr lang="en-US" sz="1700" dirty="0"/>
          </a:p>
        </p:txBody>
      </p:sp>
      <p:sp>
        <p:nvSpPr>
          <p:cNvPr id="13" name="Text 8"/>
          <p:cNvSpPr/>
          <p:nvPr/>
        </p:nvSpPr>
        <p:spPr>
          <a:xfrm>
            <a:off x="6324442" y="3391098"/>
            <a:ext cx="2552636"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Support cancellation, rescheduling, and disruption recovery.</a:t>
            </a:r>
            <a:endParaRPr lang="en-US" sz="1400" dirty="0"/>
          </a:p>
        </p:txBody>
      </p:sp>
      <p:pic>
        <p:nvPicPr>
          <p:cNvPr id="14" name="Image 3" descr="preencoded.png"/>
          <p:cNvPicPr>
            <a:picLocks noChangeAspect="1"/>
          </p:cNvPicPr>
          <p:nvPr/>
        </p:nvPicPr>
        <p:blipFill>
          <a:blip r:embed="rId6"/>
          <a:stretch>
            <a:fillRect/>
          </a:stretch>
        </p:blipFill>
        <p:spPr>
          <a:xfrm>
            <a:off x="9181870" y="2477393"/>
            <a:ext cx="444489" cy="444500"/>
          </a:xfrm>
          <a:prstGeom prst="rect">
            <a:avLst/>
          </a:prstGeom>
        </p:spPr>
      </p:pic>
      <p:sp>
        <p:nvSpPr>
          <p:cNvPr id="15" name="Text 9"/>
          <p:cNvSpPr/>
          <p:nvPr/>
        </p:nvSpPr>
        <p:spPr>
          <a:xfrm>
            <a:off x="9181870" y="3038733"/>
            <a:ext cx="2552636"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Passenger service outputs</a:t>
            </a:r>
            <a:endParaRPr lang="en-US" sz="1700" dirty="0"/>
          </a:p>
        </p:txBody>
      </p:sp>
      <p:sp>
        <p:nvSpPr>
          <p:cNvPr id="16" name="Text 10"/>
          <p:cNvSpPr/>
          <p:nvPr/>
        </p:nvSpPr>
        <p:spPr>
          <a:xfrm>
            <a:off x="9181870" y="3628529"/>
            <a:ext cx="2552636"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Organize booking documents, QR codes, and relevant email notifications.</a:t>
            </a:r>
            <a:endParaRPr lang="en-US" sz="1400" dirty="0"/>
          </a:p>
        </p:txBody>
      </p:sp>
      <p:sp>
        <p:nvSpPr>
          <p:cNvPr id="17" name="Shape 11"/>
          <p:cNvSpPr/>
          <p:nvPr/>
        </p:nvSpPr>
        <p:spPr>
          <a:xfrm>
            <a:off x="457189" y="5640784"/>
            <a:ext cx="11277318" cy="693341"/>
          </a:xfrm>
          <a:prstGeom prst="roundRect">
            <a:avLst>
              <a:gd name="adj" fmla="val 1648"/>
            </a:avLst>
          </a:prstGeom>
          <a:solidFill>
            <a:srgbClr val="CCE6FF"/>
          </a:solidFill>
          <a:ln/>
        </p:spPr>
      </p:sp>
      <p:sp>
        <p:nvSpPr>
          <p:cNvPr id="18" name="Text 12"/>
          <p:cNvSpPr/>
          <p:nvPr/>
        </p:nvSpPr>
        <p:spPr>
          <a:xfrm>
            <a:off x="634984" y="5863034"/>
            <a:ext cx="11531312"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Sora SemiBold" pitchFamily="34" charset="0"/>
                <a:ea typeface="Sora SemiBold" pitchFamily="34" charset="-122"/>
                <a:cs typeface="Sora SemiBold" pitchFamily="34" charset="0"/>
              </a:rPr>
              <a:t>Scope:</a:t>
            </a:r>
            <a:r>
              <a:rPr lang="en-US" sz="1400" dirty="0">
                <a:solidFill>
                  <a:srgbClr val="000000"/>
                </a:solidFill>
                <a:latin typeface="Sora ExtraLight" pitchFamily="34" charset="0"/>
                <a:ea typeface="Sora ExtraLight" pitchFamily="34" charset="-122"/>
                <a:cs typeface="Sora ExtraLight" pitchFamily="34" charset="0"/>
              </a:rPr>
              <a:t> a web application; limitations and unverified integrations remain clearly stated.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965160"/>
            <a:ext cx="1173450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TECHNICAL FOUNDATION</a:t>
            </a:r>
            <a:endParaRPr lang="en-US" sz="1050" dirty="0"/>
          </a:p>
        </p:txBody>
      </p:sp>
      <p:sp>
        <p:nvSpPr>
          <p:cNvPr id="3" name="Text 1"/>
          <p:cNvSpPr/>
          <p:nvPr/>
        </p:nvSpPr>
        <p:spPr>
          <a:xfrm>
            <a:off x="457189" y="1261011"/>
            <a:ext cx="11277318" cy="2011561"/>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0A3A5C"/>
                </a:solidFill>
                <a:latin typeface="Sora Light" pitchFamily="34" charset="0"/>
                <a:ea typeface="Sora Light" pitchFamily="34" charset="-122"/>
                <a:cs typeface="Sora Light" pitchFamily="34" charset="0"/>
              </a:rPr>
              <a:t>Python and Django connect the passenger interface to operational data</a:t>
            </a:r>
            <a:endParaRPr lang="en-US" sz="4800" dirty="0"/>
          </a:p>
        </p:txBody>
      </p:sp>
      <p:sp>
        <p:nvSpPr>
          <p:cNvPr id="4" name="Shape 2"/>
          <p:cNvSpPr/>
          <p:nvPr/>
        </p:nvSpPr>
        <p:spPr>
          <a:xfrm>
            <a:off x="457189" y="3457674"/>
            <a:ext cx="3721503" cy="19050"/>
          </a:xfrm>
          <a:prstGeom prst="roundRect">
            <a:avLst>
              <a:gd name="adj" fmla="val 49999"/>
            </a:avLst>
          </a:prstGeom>
          <a:solidFill>
            <a:srgbClr val="7EC1FF"/>
          </a:solidFill>
          <a:ln/>
        </p:spPr>
      </p:sp>
      <p:sp>
        <p:nvSpPr>
          <p:cNvPr id="5" name="Text 3"/>
          <p:cNvSpPr/>
          <p:nvPr/>
        </p:nvSpPr>
        <p:spPr>
          <a:xfrm>
            <a:off x="457189" y="3695799"/>
            <a:ext cx="5410065" cy="279400"/>
          </a:xfrm>
          <a:prstGeom prst="rect">
            <a:avLst/>
          </a:prstGeom>
          <a:noFill/>
          <a:ln/>
        </p:spPr>
        <p:txBody>
          <a:bodyPr wrap="none" lIns="0" tIns="0" rIns="0" bIns="0" rtlCol="0" anchor="t"/>
          <a:lstStyle/>
          <a:p>
            <a:pPr marL="0" indent="0" algn="l">
              <a:lnSpc>
                <a:spcPct val="92000"/>
              </a:lnSpc>
              <a:buNone/>
            </a:pPr>
            <a:r>
              <a:rPr lang="en-US" sz="2000" dirty="0">
                <a:solidFill>
                  <a:srgbClr val="0A3A5C"/>
                </a:solidFill>
                <a:latin typeface="Sora Light" pitchFamily="34" charset="0"/>
                <a:ea typeface="Sora Light" pitchFamily="34" charset="-122"/>
                <a:cs typeface="Sora Light" pitchFamily="34" charset="0"/>
              </a:rPr>
              <a:t>Technology stack</a:t>
            </a:r>
            <a:endParaRPr lang="en-US" sz="2000" dirty="0"/>
          </a:p>
        </p:txBody>
      </p:sp>
      <p:sp>
        <p:nvSpPr>
          <p:cNvPr id="6" name="Text 4"/>
          <p:cNvSpPr/>
          <p:nvPr/>
        </p:nvSpPr>
        <p:spPr>
          <a:xfrm>
            <a:off x="457189" y="4086324"/>
            <a:ext cx="5410065" cy="1807369"/>
          </a:xfrm>
          <a:prstGeom prst="rect">
            <a:avLst/>
          </a:prstGeom>
          <a:noFill/>
          <a:ln/>
        </p:spPr>
        <p:txBody>
          <a:bodyPr wrap="square" lIns="0" tIns="0" rIns="0" bIns="0" rtlCol="0" anchor="t">
            <a:normAutofit/>
          </a:bodyPr>
          <a:lstStyle/>
          <a:p>
            <a:pPr marL="0" indent="0" algn="l">
              <a:lnSpc>
                <a:spcPct val="117000"/>
              </a:lnSpc>
              <a:spcAft>
                <a:spcPts val="800"/>
              </a:spcAft>
              <a:buNone/>
            </a:pPr>
            <a:r>
              <a:rPr lang="en-US" sz="1400" b="1" dirty="0">
                <a:solidFill>
                  <a:srgbClr val="000000"/>
                </a:solidFill>
                <a:latin typeface="Sora SemiBold" pitchFamily="34" charset="0"/>
                <a:ea typeface="Sora SemiBold" pitchFamily="34" charset="-122"/>
                <a:cs typeface="Sora SemiBold" pitchFamily="34" charset="0"/>
              </a:rPr>
              <a:t>Front end:</a:t>
            </a:r>
            <a:r>
              <a:rPr lang="en-US" sz="1400" dirty="0">
                <a:solidFill>
                  <a:srgbClr val="000000"/>
                </a:solidFill>
                <a:latin typeface="Sora ExtraLight" pitchFamily="34" charset="0"/>
                <a:ea typeface="Sora ExtraLight" pitchFamily="34" charset="-122"/>
                <a:cs typeface="Sora ExtraLight" pitchFamily="34" charset="0"/>
              </a:rPr>
              <a:t> HTML, CSS, JavaScript, and Django Template Language.</a:t>
            </a:r>
            <a:endParaRPr lang="en-US" sz="1400" dirty="0"/>
          </a:p>
          <a:p>
            <a:pPr marL="0" indent="0" algn="l">
              <a:lnSpc>
                <a:spcPct val="117000"/>
              </a:lnSpc>
              <a:spcAft>
                <a:spcPts val="800"/>
              </a:spcAft>
              <a:buNone/>
            </a:pPr>
            <a:r>
              <a:rPr lang="en-US" sz="1400" b="1" dirty="0">
                <a:solidFill>
                  <a:srgbClr val="000000"/>
                </a:solidFill>
                <a:latin typeface="Sora SemiBold" pitchFamily="34" charset="0"/>
                <a:ea typeface="Sora SemiBold" pitchFamily="34" charset="-122"/>
                <a:cs typeface="Sora SemiBold" pitchFamily="34" charset="0"/>
              </a:rPr>
              <a:t>Back end:</a:t>
            </a:r>
            <a:r>
              <a:rPr lang="en-US" sz="1400" dirty="0">
                <a:solidFill>
                  <a:srgbClr val="000000"/>
                </a:solidFill>
                <a:latin typeface="Sora ExtraLight" pitchFamily="34" charset="0"/>
                <a:ea typeface="Sora ExtraLight" pitchFamily="34" charset="-122"/>
                <a:cs typeface="Sora ExtraLight" pitchFamily="34" charset="0"/>
              </a:rPr>
              <a:t> Python and Django.</a:t>
            </a:r>
            <a:endParaRPr lang="en-US" sz="1400" dirty="0"/>
          </a:p>
          <a:p>
            <a:pPr marL="0" indent="0" algn="l">
              <a:lnSpc>
                <a:spcPct val="117000"/>
              </a:lnSpc>
              <a:spcAft>
                <a:spcPts val="800"/>
              </a:spcAft>
              <a:buNone/>
            </a:pPr>
            <a:r>
              <a:rPr lang="en-US" sz="1400" b="1" dirty="0">
                <a:solidFill>
                  <a:srgbClr val="000000"/>
                </a:solidFill>
                <a:latin typeface="Sora SemiBold" pitchFamily="34" charset="0"/>
                <a:ea typeface="Sora SemiBold" pitchFamily="34" charset="-122"/>
                <a:cs typeface="Sora SemiBold" pitchFamily="34" charset="0"/>
              </a:rPr>
              <a:t>Database:</a:t>
            </a:r>
            <a:r>
              <a:rPr lang="en-US" sz="1400" dirty="0">
                <a:solidFill>
                  <a:srgbClr val="000000"/>
                </a:solidFill>
                <a:latin typeface="Sora ExtraLight" pitchFamily="34" charset="0"/>
                <a:ea typeface="Sora ExtraLight" pitchFamily="34" charset="-122"/>
                <a:cs typeface="Sora ExtraLight" pitchFamily="34" charset="0"/>
              </a:rPr>
              <a:t> SQLite.</a:t>
            </a:r>
            <a:endParaRPr lang="en-US" sz="1400" dirty="0"/>
          </a:p>
          <a:p>
            <a:pPr marL="0" indent="0" algn="l">
              <a:lnSpc>
                <a:spcPct val="117000"/>
              </a:lnSpc>
              <a:buNone/>
            </a:pPr>
            <a:r>
              <a:rPr lang="en-US" sz="1400" b="1" dirty="0">
                <a:solidFill>
                  <a:srgbClr val="000000"/>
                </a:solidFill>
                <a:latin typeface="Sora SemiBold" pitchFamily="34" charset="0"/>
                <a:ea typeface="Sora SemiBold" pitchFamily="34" charset="-122"/>
                <a:cs typeface="Sora SemiBold" pitchFamily="34" charset="0"/>
              </a:rPr>
              <a:t>Supporting libraries:</a:t>
            </a:r>
            <a:r>
              <a:rPr lang="en-US" sz="1400" dirty="0">
                <a:solidFill>
                  <a:srgbClr val="000000"/>
                </a:solidFill>
                <a:latin typeface="Sora ExtraLight" pitchFamily="34" charset="0"/>
                <a:ea typeface="Sora ExtraLight" pitchFamily="34" charset="-122"/>
                <a:cs typeface="Sora ExtraLight" pitchFamily="34" charset="0"/>
              </a:rPr>
              <a:t> ReportLab, qrcode, Pillow</a:t>
            </a:r>
            <a:endParaRPr lang="en-US" sz="1400" dirty="0"/>
          </a:p>
        </p:txBody>
      </p:sp>
      <p:sp>
        <p:nvSpPr>
          <p:cNvPr id="7" name="Text 5"/>
          <p:cNvSpPr/>
          <p:nvPr/>
        </p:nvSpPr>
        <p:spPr>
          <a:xfrm>
            <a:off x="6324442" y="3695799"/>
            <a:ext cx="5410065" cy="279400"/>
          </a:xfrm>
          <a:prstGeom prst="rect">
            <a:avLst/>
          </a:prstGeom>
          <a:noFill/>
          <a:ln/>
        </p:spPr>
        <p:txBody>
          <a:bodyPr wrap="none" lIns="0" tIns="0" rIns="0" bIns="0" rtlCol="0" anchor="t"/>
          <a:lstStyle/>
          <a:p>
            <a:pPr marL="0" indent="0" algn="l">
              <a:lnSpc>
                <a:spcPct val="92000"/>
              </a:lnSpc>
              <a:buNone/>
            </a:pPr>
            <a:r>
              <a:rPr lang="en-US" sz="2000" dirty="0">
                <a:solidFill>
                  <a:srgbClr val="0A3A5C"/>
                </a:solidFill>
                <a:latin typeface="Sora Light" pitchFamily="34" charset="0"/>
                <a:ea typeface="Sora Light" pitchFamily="34" charset="-122"/>
                <a:cs typeface="Sora Light" pitchFamily="34" charset="0"/>
              </a:rPr>
              <a:t>Architecture</a:t>
            </a:r>
            <a:endParaRPr lang="en-US" sz="2000" dirty="0"/>
          </a:p>
        </p:txBody>
      </p:sp>
      <p:sp>
        <p:nvSpPr>
          <p:cNvPr id="8" name="Text 6"/>
          <p:cNvSpPr/>
          <p:nvPr/>
        </p:nvSpPr>
        <p:spPr>
          <a:xfrm>
            <a:off x="6324442" y="4086324"/>
            <a:ext cx="541006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Passenger/Admin → Web Interface → Django Application → SQLite Database, with PDF and QR-code generation as supporting services.</a:t>
            </a:r>
            <a:endParaRPr lang="en-US" sz="1400" dirty="0"/>
          </a:p>
        </p:txBody>
      </p:sp>
      <p:sp>
        <p:nvSpPr>
          <p:cNvPr id="9" name="Shape 7"/>
          <p:cNvSpPr/>
          <p:nvPr/>
        </p:nvSpPr>
        <p:spPr>
          <a:xfrm>
            <a:off x="6089498" y="3679924"/>
            <a:ext cx="12700" cy="2213769"/>
          </a:xfrm>
          <a:prstGeom prst="rect">
            <a:avLst/>
          </a:prstGeom>
          <a:solidFill>
            <a:srgbClr val="D4ECF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1134328"/>
            <a:ext cx="1173450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IMPLEMENTED CAPABILITIES</a:t>
            </a:r>
            <a:endParaRPr lang="en-US" sz="1050" dirty="0"/>
          </a:p>
        </p:txBody>
      </p:sp>
      <p:sp>
        <p:nvSpPr>
          <p:cNvPr id="3" name="Text 1"/>
          <p:cNvSpPr/>
          <p:nvPr/>
        </p:nvSpPr>
        <p:spPr>
          <a:xfrm>
            <a:off x="457189" y="1418042"/>
            <a:ext cx="11277318"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0A3A5C"/>
                </a:solidFill>
                <a:latin typeface="Sora Light" pitchFamily="34" charset="0"/>
                <a:ea typeface="Sora Light" pitchFamily="34" charset="-122"/>
                <a:cs typeface="Sora Light" pitchFamily="34" charset="0"/>
              </a:rPr>
              <a:t>Eight implemented modules organize flight and passenger services</a:t>
            </a:r>
            <a:endParaRPr lang="en-US" sz="3200" dirty="0"/>
          </a:p>
        </p:txBody>
      </p:sp>
      <p:sp>
        <p:nvSpPr>
          <p:cNvPr id="4" name="Shape 2"/>
          <p:cNvSpPr/>
          <p:nvPr/>
        </p:nvSpPr>
        <p:spPr>
          <a:xfrm>
            <a:off x="457189" y="2464792"/>
            <a:ext cx="2743131" cy="1553666"/>
          </a:xfrm>
          <a:prstGeom prst="roundRect">
            <a:avLst>
              <a:gd name="adj" fmla="val 736"/>
            </a:avLst>
          </a:prstGeom>
          <a:solidFill>
            <a:srgbClr val="FAFBFD"/>
          </a:solidFill>
          <a:ln/>
        </p:spPr>
      </p:sp>
      <p:sp>
        <p:nvSpPr>
          <p:cNvPr id="5" name="Shape 3"/>
          <p:cNvSpPr/>
          <p:nvPr/>
        </p:nvSpPr>
        <p:spPr>
          <a:xfrm>
            <a:off x="685783" y="2693392"/>
            <a:ext cx="400536" cy="311150"/>
          </a:xfrm>
          <a:prstGeom prst="roundRect">
            <a:avLst>
              <a:gd name="adj" fmla="val 17142"/>
            </a:avLst>
          </a:prstGeom>
          <a:solidFill>
            <a:srgbClr val="7EC1FF"/>
          </a:solidFill>
          <a:ln w="6350">
            <a:solidFill>
              <a:srgbClr val="2E6E9E"/>
            </a:solidFill>
            <a:prstDash val="solid"/>
          </a:ln>
        </p:spPr>
      </p:sp>
      <p:sp>
        <p:nvSpPr>
          <p:cNvPr id="6" name="Text 4"/>
          <p:cNvSpPr/>
          <p:nvPr/>
        </p:nvSpPr>
        <p:spPr>
          <a:xfrm>
            <a:off x="781030" y="2760067"/>
            <a:ext cx="819626"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01</a:t>
            </a:r>
            <a:endParaRPr lang="en-US" sz="1400" dirty="0"/>
          </a:p>
        </p:txBody>
      </p:sp>
      <p:sp>
        <p:nvSpPr>
          <p:cNvPr id="7" name="Text 5"/>
          <p:cNvSpPr/>
          <p:nvPr/>
        </p:nvSpPr>
        <p:spPr>
          <a:xfrm>
            <a:off x="685783" y="3089632"/>
            <a:ext cx="2285943" cy="237430"/>
          </a:xfrm>
          <a:prstGeom prst="rect">
            <a:avLst/>
          </a:prstGeom>
          <a:noFill/>
          <a:ln/>
        </p:spPr>
        <p:txBody>
          <a:bodyPr wrap="none" lIns="0" tIns="0" rIns="0" bIns="0" rtlCol="0" anchor="t"/>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User Authentication</a:t>
            </a:r>
            <a:endParaRPr lang="en-US" sz="1700" dirty="0"/>
          </a:p>
        </p:txBody>
      </p:sp>
      <p:sp>
        <p:nvSpPr>
          <p:cNvPr id="8" name="Shape 6"/>
          <p:cNvSpPr/>
          <p:nvPr/>
        </p:nvSpPr>
        <p:spPr>
          <a:xfrm>
            <a:off x="3352716" y="2464792"/>
            <a:ext cx="2666933" cy="1553666"/>
          </a:xfrm>
          <a:prstGeom prst="roundRect">
            <a:avLst>
              <a:gd name="adj" fmla="val 736"/>
            </a:avLst>
          </a:prstGeom>
          <a:solidFill>
            <a:srgbClr val="FAFBFD"/>
          </a:solidFill>
          <a:ln/>
        </p:spPr>
      </p:sp>
      <p:sp>
        <p:nvSpPr>
          <p:cNvPr id="9" name="Shape 7"/>
          <p:cNvSpPr/>
          <p:nvPr/>
        </p:nvSpPr>
        <p:spPr>
          <a:xfrm>
            <a:off x="3581310" y="2693392"/>
            <a:ext cx="436452" cy="311150"/>
          </a:xfrm>
          <a:prstGeom prst="roundRect">
            <a:avLst>
              <a:gd name="adj" fmla="val 17142"/>
            </a:avLst>
          </a:prstGeom>
          <a:solidFill>
            <a:srgbClr val="7EC1FF"/>
          </a:solidFill>
          <a:ln w="6350">
            <a:solidFill>
              <a:srgbClr val="2E6E9E"/>
            </a:solidFill>
            <a:prstDash val="solid"/>
          </a:ln>
        </p:spPr>
      </p:sp>
      <p:sp>
        <p:nvSpPr>
          <p:cNvPr id="10" name="Text 8"/>
          <p:cNvSpPr/>
          <p:nvPr/>
        </p:nvSpPr>
        <p:spPr>
          <a:xfrm>
            <a:off x="3676558" y="2760067"/>
            <a:ext cx="855542"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02</a:t>
            </a:r>
            <a:endParaRPr lang="en-US" sz="1400" dirty="0"/>
          </a:p>
        </p:txBody>
      </p:sp>
      <p:sp>
        <p:nvSpPr>
          <p:cNvPr id="11" name="Text 9"/>
          <p:cNvSpPr/>
          <p:nvPr/>
        </p:nvSpPr>
        <p:spPr>
          <a:xfrm>
            <a:off x="3581310" y="3089632"/>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Flight Management</a:t>
            </a:r>
            <a:endParaRPr lang="en-US" sz="1700" dirty="0"/>
          </a:p>
        </p:txBody>
      </p:sp>
      <p:sp>
        <p:nvSpPr>
          <p:cNvPr id="12" name="Shape 10"/>
          <p:cNvSpPr/>
          <p:nvPr/>
        </p:nvSpPr>
        <p:spPr>
          <a:xfrm>
            <a:off x="6172046" y="2464792"/>
            <a:ext cx="2666933" cy="1553666"/>
          </a:xfrm>
          <a:prstGeom prst="roundRect">
            <a:avLst>
              <a:gd name="adj" fmla="val 736"/>
            </a:avLst>
          </a:prstGeom>
          <a:solidFill>
            <a:srgbClr val="FAFBFD"/>
          </a:solidFill>
          <a:ln/>
        </p:spPr>
      </p:sp>
      <p:sp>
        <p:nvSpPr>
          <p:cNvPr id="13" name="Shape 11"/>
          <p:cNvSpPr/>
          <p:nvPr/>
        </p:nvSpPr>
        <p:spPr>
          <a:xfrm>
            <a:off x="6400640" y="2693392"/>
            <a:ext cx="436254" cy="311150"/>
          </a:xfrm>
          <a:prstGeom prst="roundRect">
            <a:avLst>
              <a:gd name="adj" fmla="val 17142"/>
            </a:avLst>
          </a:prstGeom>
          <a:solidFill>
            <a:srgbClr val="7EC1FF"/>
          </a:solidFill>
          <a:ln w="6350">
            <a:solidFill>
              <a:srgbClr val="2E6E9E"/>
            </a:solidFill>
            <a:prstDash val="solid"/>
          </a:ln>
        </p:spPr>
      </p:sp>
      <p:sp>
        <p:nvSpPr>
          <p:cNvPr id="14" name="Text 12"/>
          <p:cNvSpPr/>
          <p:nvPr/>
        </p:nvSpPr>
        <p:spPr>
          <a:xfrm>
            <a:off x="6495887" y="2760067"/>
            <a:ext cx="855343"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03</a:t>
            </a:r>
            <a:endParaRPr lang="en-US" sz="1400" dirty="0"/>
          </a:p>
        </p:txBody>
      </p:sp>
      <p:sp>
        <p:nvSpPr>
          <p:cNvPr id="15" name="Text 13"/>
          <p:cNvSpPr/>
          <p:nvPr/>
        </p:nvSpPr>
        <p:spPr>
          <a:xfrm>
            <a:off x="6400640" y="3089632"/>
            <a:ext cx="2209745" cy="71229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Airport, Terminal and Gate Management</a:t>
            </a:r>
            <a:endParaRPr lang="en-US" sz="1700" dirty="0"/>
          </a:p>
        </p:txBody>
      </p:sp>
      <p:sp>
        <p:nvSpPr>
          <p:cNvPr id="16" name="Shape 14"/>
          <p:cNvSpPr/>
          <p:nvPr/>
        </p:nvSpPr>
        <p:spPr>
          <a:xfrm>
            <a:off x="8991375" y="2464792"/>
            <a:ext cx="2743131" cy="1553666"/>
          </a:xfrm>
          <a:prstGeom prst="roundRect">
            <a:avLst>
              <a:gd name="adj" fmla="val 736"/>
            </a:avLst>
          </a:prstGeom>
          <a:solidFill>
            <a:srgbClr val="FAFBFD"/>
          </a:solidFill>
          <a:ln/>
        </p:spPr>
      </p:sp>
      <p:sp>
        <p:nvSpPr>
          <p:cNvPr id="17" name="Shape 15"/>
          <p:cNvSpPr/>
          <p:nvPr/>
        </p:nvSpPr>
        <p:spPr>
          <a:xfrm>
            <a:off x="9219969" y="2693392"/>
            <a:ext cx="442703" cy="311150"/>
          </a:xfrm>
          <a:prstGeom prst="roundRect">
            <a:avLst>
              <a:gd name="adj" fmla="val 17142"/>
            </a:avLst>
          </a:prstGeom>
          <a:solidFill>
            <a:srgbClr val="7EC1FF"/>
          </a:solidFill>
          <a:ln w="6350">
            <a:solidFill>
              <a:srgbClr val="2E6E9E"/>
            </a:solidFill>
            <a:prstDash val="solid"/>
          </a:ln>
        </p:spPr>
      </p:sp>
      <p:sp>
        <p:nvSpPr>
          <p:cNvPr id="18" name="Text 16"/>
          <p:cNvSpPr/>
          <p:nvPr/>
        </p:nvSpPr>
        <p:spPr>
          <a:xfrm>
            <a:off x="9315217" y="2760067"/>
            <a:ext cx="861793"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04</a:t>
            </a:r>
            <a:endParaRPr lang="en-US" sz="1400" dirty="0"/>
          </a:p>
        </p:txBody>
      </p:sp>
      <p:sp>
        <p:nvSpPr>
          <p:cNvPr id="19" name="Text 17"/>
          <p:cNvSpPr/>
          <p:nvPr/>
        </p:nvSpPr>
        <p:spPr>
          <a:xfrm>
            <a:off x="9219969" y="3089632"/>
            <a:ext cx="2285943" cy="71229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Passenger and Booking Management</a:t>
            </a:r>
            <a:endParaRPr lang="en-US" sz="1700" dirty="0"/>
          </a:p>
        </p:txBody>
      </p:sp>
      <p:sp>
        <p:nvSpPr>
          <p:cNvPr id="20" name="Shape 18"/>
          <p:cNvSpPr/>
          <p:nvPr/>
        </p:nvSpPr>
        <p:spPr>
          <a:xfrm>
            <a:off x="457189" y="4170859"/>
            <a:ext cx="2743131" cy="1553666"/>
          </a:xfrm>
          <a:prstGeom prst="roundRect">
            <a:avLst>
              <a:gd name="adj" fmla="val 736"/>
            </a:avLst>
          </a:prstGeom>
          <a:solidFill>
            <a:srgbClr val="FAFBFD"/>
          </a:solidFill>
          <a:ln/>
        </p:spPr>
      </p:sp>
      <p:sp>
        <p:nvSpPr>
          <p:cNvPr id="21" name="Shape 19"/>
          <p:cNvSpPr/>
          <p:nvPr/>
        </p:nvSpPr>
        <p:spPr>
          <a:xfrm>
            <a:off x="685783" y="4399459"/>
            <a:ext cx="438238" cy="311150"/>
          </a:xfrm>
          <a:prstGeom prst="roundRect">
            <a:avLst>
              <a:gd name="adj" fmla="val 17142"/>
            </a:avLst>
          </a:prstGeom>
          <a:solidFill>
            <a:srgbClr val="7EC1FF"/>
          </a:solidFill>
          <a:ln w="6350">
            <a:solidFill>
              <a:srgbClr val="2E6E9E"/>
            </a:solidFill>
            <a:prstDash val="solid"/>
          </a:ln>
        </p:spPr>
      </p:sp>
      <p:sp>
        <p:nvSpPr>
          <p:cNvPr id="22" name="Text 20"/>
          <p:cNvSpPr/>
          <p:nvPr/>
        </p:nvSpPr>
        <p:spPr>
          <a:xfrm>
            <a:off x="781030" y="4466134"/>
            <a:ext cx="857328"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05</a:t>
            </a:r>
            <a:endParaRPr lang="en-US" sz="1400" dirty="0"/>
          </a:p>
        </p:txBody>
      </p:sp>
      <p:sp>
        <p:nvSpPr>
          <p:cNvPr id="23" name="Text 21"/>
          <p:cNvSpPr/>
          <p:nvPr/>
        </p:nvSpPr>
        <p:spPr>
          <a:xfrm>
            <a:off x="685783" y="4795699"/>
            <a:ext cx="2285943"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Cancellation and Rescheduling</a:t>
            </a:r>
            <a:endParaRPr lang="en-US" sz="1700" dirty="0"/>
          </a:p>
        </p:txBody>
      </p:sp>
      <p:sp>
        <p:nvSpPr>
          <p:cNvPr id="24" name="Shape 22"/>
          <p:cNvSpPr/>
          <p:nvPr/>
        </p:nvSpPr>
        <p:spPr>
          <a:xfrm>
            <a:off x="3352716" y="4170859"/>
            <a:ext cx="2666933" cy="1553666"/>
          </a:xfrm>
          <a:prstGeom prst="roundRect">
            <a:avLst>
              <a:gd name="adj" fmla="val 736"/>
            </a:avLst>
          </a:prstGeom>
          <a:solidFill>
            <a:srgbClr val="FAFBFD"/>
          </a:solidFill>
          <a:ln/>
        </p:spPr>
      </p:sp>
      <p:sp>
        <p:nvSpPr>
          <p:cNvPr id="25" name="Shape 23"/>
          <p:cNvSpPr/>
          <p:nvPr/>
        </p:nvSpPr>
        <p:spPr>
          <a:xfrm>
            <a:off x="3581310" y="4399459"/>
            <a:ext cx="445481" cy="311150"/>
          </a:xfrm>
          <a:prstGeom prst="roundRect">
            <a:avLst>
              <a:gd name="adj" fmla="val 17142"/>
            </a:avLst>
          </a:prstGeom>
          <a:solidFill>
            <a:srgbClr val="7EC1FF"/>
          </a:solidFill>
          <a:ln w="6350">
            <a:solidFill>
              <a:srgbClr val="2E6E9E"/>
            </a:solidFill>
            <a:prstDash val="solid"/>
          </a:ln>
        </p:spPr>
      </p:sp>
      <p:sp>
        <p:nvSpPr>
          <p:cNvPr id="26" name="Text 24"/>
          <p:cNvSpPr/>
          <p:nvPr/>
        </p:nvSpPr>
        <p:spPr>
          <a:xfrm>
            <a:off x="3676558" y="4466134"/>
            <a:ext cx="864571"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06</a:t>
            </a:r>
            <a:endParaRPr lang="en-US" sz="1400" dirty="0"/>
          </a:p>
        </p:txBody>
      </p:sp>
      <p:sp>
        <p:nvSpPr>
          <p:cNvPr id="27" name="Text 25"/>
          <p:cNvSpPr/>
          <p:nvPr/>
        </p:nvSpPr>
        <p:spPr>
          <a:xfrm>
            <a:off x="3581310" y="4795699"/>
            <a:ext cx="2209745"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Boarding Pass and Booking Receipt</a:t>
            </a:r>
            <a:endParaRPr lang="en-US" sz="1700" dirty="0"/>
          </a:p>
        </p:txBody>
      </p:sp>
      <p:sp>
        <p:nvSpPr>
          <p:cNvPr id="28" name="Shape 26"/>
          <p:cNvSpPr/>
          <p:nvPr/>
        </p:nvSpPr>
        <p:spPr>
          <a:xfrm>
            <a:off x="6172046" y="4170859"/>
            <a:ext cx="2666933" cy="1553666"/>
          </a:xfrm>
          <a:prstGeom prst="roundRect">
            <a:avLst>
              <a:gd name="adj" fmla="val 736"/>
            </a:avLst>
          </a:prstGeom>
          <a:solidFill>
            <a:srgbClr val="FAFBFD"/>
          </a:solidFill>
          <a:ln/>
        </p:spPr>
      </p:sp>
      <p:sp>
        <p:nvSpPr>
          <p:cNvPr id="29" name="Shape 27"/>
          <p:cNvSpPr/>
          <p:nvPr/>
        </p:nvSpPr>
        <p:spPr>
          <a:xfrm>
            <a:off x="6400640" y="4399459"/>
            <a:ext cx="430896" cy="311150"/>
          </a:xfrm>
          <a:prstGeom prst="roundRect">
            <a:avLst>
              <a:gd name="adj" fmla="val 17142"/>
            </a:avLst>
          </a:prstGeom>
          <a:solidFill>
            <a:srgbClr val="7EC1FF"/>
          </a:solidFill>
          <a:ln w="6350">
            <a:solidFill>
              <a:srgbClr val="2E6E9E"/>
            </a:solidFill>
            <a:prstDash val="solid"/>
          </a:ln>
        </p:spPr>
      </p:sp>
      <p:sp>
        <p:nvSpPr>
          <p:cNvPr id="30" name="Text 28"/>
          <p:cNvSpPr/>
          <p:nvPr/>
        </p:nvSpPr>
        <p:spPr>
          <a:xfrm>
            <a:off x="6495887" y="4466134"/>
            <a:ext cx="849986"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07</a:t>
            </a:r>
            <a:endParaRPr lang="en-US" sz="1400" dirty="0"/>
          </a:p>
        </p:txBody>
      </p:sp>
      <p:sp>
        <p:nvSpPr>
          <p:cNvPr id="31" name="Text 29"/>
          <p:cNvSpPr/>
          <p:nvPr/>
        </p:nvSpPr>
        <p:spPr>
          <a:xfrm>
            <a:off x="6400640" y="4795699"/>
            <a:ext cx="2209745" cy="71229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Voucher and Recovery Management</a:t>
            </a:r>
            <a:endParaRPr lang="en-US" sz="1700" dirty="0"/>
          </a:p>
        </p:txBody>
      </p:sp>
      <p:sp>
        <p:nvSpPr>
          <p:cNvPr id="32" name="Shape 30"/>
          <p:cNvSpPr/>
          <p:nvPr/>
        </p:nvSpPr>
        <p:spPr>
          <a:xfrm>
            <a:off x="8991375" y="4170859"/>
            <a:ext cx="2743131" cy="1553666"/>
          </a:xfrm>
          <a:prstGeom prst="roundRect">
            <a:avLst>
              <a:gd name="adj" fmla="val 736"/>
            </a:avLst>
          </a:prstGeom>
          <a:solidFill>
            <a:srgbClr val="FAFBFD"/>
          </a:solidFill>
          <a:ln/>
        </p:spPr>
      </p:sp>
      <p:sp>
        <p:nvSpPr>
          <p:cNvPr id="33" name="Shape 31"/>
          <p:cNvSpPr/>
          <p:nvPr/>
        </p:nvSpPr>
        <p:spPr>
          <a:xfrm>
            <a:off x="9219969" y="4399459"/>
            <a:ext cx="441810" cy="311150"/>
          </a:xfrm>
          <a:prstGeom prst="roundRect">
            <a:avLst>
              <a:gd name="adj" fmla="val 17142"/>
            </a:avLst>
          </a:prstGeom>
          <a:solidFill>
            <a:srgbClr val="7EC1FF"/>
          </a:solidFill>
          <a:ln w="6350">
            <a:solidFill>
              <a:srgbClr val="2E6E9E"/>
            </a:solidFill>
            <a:prstDash val="solid"/>
          </a:ln>
        </p:spPr>
      </p:sp>
      <p:sp>
        <p:nvSpPr>
          <p:cNvPr id="34" name="Text 32"/>
          <p:cNvSpPr/>
          <p:nvPr/>
        </p:nvSpPr>
        <p:spPr>
          <a:xfrm>
            <a:off x="9315217" y="4466134"/>
            <a:ext cx="860900"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Sora SemiBold" pitchFamily="34" charset="0"/>
                <a:ea typeface="Sora SemiBold" pitchFamily="34" charset="-122"/>
                <a:cs typeface="Sora SemiBold" pitchFamily="34" charset="0"/>
              </a:rPr>
              <a:t>08</a:t>
            </a:r>
            <a:endParaRPr lang="en-US" sz="1400" dirty="0"/>
          </a:p>
        </p:txBody>
      </p:sp>
      <p:sp>
        <p:nvSpPr>
          <p:cNvPr id="35" name="Text 33"/>
          <p:cNvSpPr/>
          <p:nvPr/>
        </p:nvSpPr>
        <p:spPr>
          <a:xfrm>
            <a:off x="9219969" y="4795699"/>
            <a:ext cx="2285943" cy="237430"/>
          </a:xfrm>
          <a:prstGeom prst="rect">
            <a:avLst/>
          </a:prstGeom>
          <a:noFill/>
          <a:ln/>
        </p:spPr>
        <p:txBody>
          <a:bodyPr wrap="none" lIns="0" tIns="0" rIns="0" bIns="0" rtlCol="0" anchor="t"/>
          <a:lstStyle/>
          <a:p>
            <a:pPr marL="0" indent="0" algn="l">
              <a:lnSpc>
                <a:spcPct val="92000"/>
              </a:lnSpc>
              <a:buNone/>
            </a:pPr>
            <a:r>
              <a:rPr lang="en-US" sz="1700" dirty="0">
                <a:solidFill>
                  <a:srgbClr val="0A3A5C"/>
                </a:solidFill>
                <a:latin typeface="Sora Light" pitchFamily="34" charset="0"/>
                <a:ea typeface="Sora Light" pitchFamily="34" charset="-122"/>
                <a:cs typeface="Sora Light" pitchFamily="34" charset="0"/>
              </a:rPr>
              <a:t>Email Notifications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2068016"/>
          </a:xfrm>
          <a:prstGeom prst="rect">
            <a:avLst/>
          </a:prstGeom>
          <a:solidFill>
            <a:srgbClr val="2E6E9E"/>
          </a:solidFill>
          <a:ln/>
        </p:spPr>
      </p:sp>
      <p:sp>
        <p:nvSpPr>
          <p:cNvPr id="3" name="Text 1"/>
          <p:cNvSpPr/>
          <p:nvPr/>
        </p:nvSpPr>
        <p:spPr>
          <a:xfrm>
            <a:off x="457189" y="458152"/>
            <a:ext cx="1173450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Sora ExtraLight" pitchFamily="34" charset="0"/>
                <a:ea typeface="Sora ExtraLight" pitchFamily="34" charset="-122"/>
                <a:cs typeface="Sora ExtraLight" pitchFamily="34" charset="0"/>
              </a:rPr>
              <a:t>SYSTEM RESPONSIBILITIES</a:t>
            </a:r>
            <a:endParaRPr lang="en-US" sz="1050" dirty="0"/>
          </a:p>
        </p:txBody>
      </p:sp>
      <p:sp>
        <p:nvSpPr>
          <p:cNvPr id="4" name="Text 2"/>
          <p:cNvSpPr/>
          <p:nvPr/>
        </p:nvSpPr>
        <p:spPr>
          <a:xfrm>
            <a:off x="457189" y="741866"/>
            <a:ext cx="11277318"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FFFFFF"/>
                </a:solidFill>
                <a:latin typeface="Sora Light" pitchFamily="34" charset="0"/>
                <a:ea typeface="Sora Light" pitchFamily="34" charset="-122"/>
                <a:cs typeface="Sora Light" pitchFamily="34" charset="0"/>
              </a:rPr>
              <a:t>Passenger and administrator responsibilities meet inside AeroFlow</a:t>
            </a:r>
            <a:endParaRPr lang="en-US" sz="3200" dirty="0"/>
          </a:p>
        </p:txBody>
      </p:sp>
      <p:pic>
        <p:nvPicPr>
          <p:cNvPr id="5" name="Image 0" descr="preencoded.png"/>
          <p:cNvPicPr>
            <a:picLocks noChangeAspect="1"/>
          </p:cNvPicPr>
          <p:nvPr/>
        </p:nvPicPr>
        <p:blipFill>
          <a:blip r:embed="rId3"/>
          <a:stretch>
            <a:fillRect/>
          </a:stretch>
        </p:blipFill>
        <p:spPr>
          <a:xfrm>
            <a:off x="457189" y="2653308"/>
            <a:ext cx="6812983" cy="36194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2068374"/>
            <a:ext cx="429765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APPLICATION WALKTHROUGH</a:t>
            </a:r>
            <a:endParaRPr lang="en-US" sz="1050" dirty="0"/>
          </a:p>
        </p:txBody>
      </p:sp>
      <p:sp>
        <p:nvSpPr>
          <p:cNvPr id="3" name="Text 1"/>
          <p:cNvSpPr/>
          <p:nvPr/>
        </p:nvSpPr>
        <p:spPr>
          <a:xfrm>
            <a:off x="457189" y="2352087"/>
            <a:ext cx="3840463" cy="1787922"/>
          </a:xfrm>
          <a:prstGeom prst="rect">
            <a:avLst/>
          </a:prstGeom>
          <a:noFill/>
          <a:ln/>
        </p:spPr>
        <p:txBody>
          <a:bodyPr wrap="square" lIns="0" tIns="0" rIns="0" bIns="0" rtlCol="0" anchor="t">
            <a:normAutofit/>
          </a:bodyPr>
          <a:lstStyle/>
          <a:p>
            <a:pPr marL="0" indent="0" algn="l">
              <a:lnSpc>
                <a:spcPct val="92000"/>
              </a:lnSpc>
              <a:buNone/>
            </a:pPr>
            <a:r>
              <a:rPr lang="en-US" sz="3200" dirty="0">
                <a:solidFill>
                  <a:srgbClr val="0A3A5C"/>
                </a:solidFill>
                <a:latin typeface="Sora Light" pitchFamily="34" charset="0"/>
                <a:ea typeface="Sora Light" pitchFamily="34" charset="-122"/>
                <a:cs typeface="Sora Light" pitchFamily="34" charset="0"/>
              </a:rPr>
              <a:t>Application walkthrough: use real screens</a:t>
            </a:r>
            <a:endParaRPr lang="en-US" sz="3200" dirty="0"/>
          </a:p>
        </p:txBody>
      </p:sp>
      <p:sp>
        <p:nvSpPr>
          <p:cNvPr id="4" name="Text 2"/>
          <p:cNvSpPr/>
          <p:nvPr/>
        </p:nvSpPr>
        <p:spPr>
          <a:xfrm>
            <a:off x="457189" y="4292798"/>
            <a:ext cx="384046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Demonstrated functionality should be shown through the application screens.</a:t>
            </a:r>
            <a:endParaRPr lang="en-US" sz="1400" dirty="0"/>
          </a:p>
        </p:txBody>
      </p:sp>
      <p:sp>
        <p:nvSpPr>
          <p:cNvPr id="5" name="Shape 3"/>
          <p:cNvSpPr/>
          <p:nvPr/>
        </p:nvSpPr>
        <p:spPr>
          <a:xfrm>
            <a:off x="5516722" y="986532"/>
            <a:ext cx="1970931" cy="1940223"/>
          </a:xfrm>
          <a:prstGeom prst="roundRect">
            <a:avLst>
              <a:gd name="adj" fmla="val 589"/>
            </a:avLst>
          </a:prstGeom>
          <a:solidFill>
            <a:srgbClr val="D4ECFF"/>
          </a:solidFill>
          <a:ln w="19050">
            <a:solidFill>
              <a:srgbClr val="2E6E9E"/>
            </a:solidFill>
            <a:prstDash val="solid"/>
          </a:ln>
        </p:spPr>
      </p:sp>
      <p:sp>
        <p:nvSpPr>
          <p:cNvPr id="6" name="Text 4"/>
          <p:cNvSpPr/>
          <p:nvPr/>
        </p:nvSpPr>
        <p:spPr>
          <a:xfrm>
            <a:off x="5764366" y="1353800"/>
            <a:ext cx="1723287" cy="186630"/>
          </a:xfrm>
          <a:prstGeom prst="rect">
            <a:avLst/>
          </a:prstGeom>
          <a:noFill/>
          <a:ln/>
        </p:spPr>
        <p:txBody>
          <a:bodyPr wrap="none" lIns="0" tIns="0" rIns="0" bIns="0" rtlCol="0" anchor="t"/>
          <a:lstStyle/>
          <a:p>
            <a:pPr marL="0" indent="0" algn="l">
              <a:lnSpc>
                <a:spcPct val="117000"/>
              </a:lnSpc>
              <a:buNone/>
            </a:pPr>
            <a:r>
              <a:rPr lang="en-US" sz="1050" dirty="0">
                <a:solidFill>
                  <a:srgbClr val="000000"/>
                </a:solidFill>
                <a:latin typeface="Sora ExtraLight" pitchFamily="34" charset="0"/>
                <a:ea typeface="Sora ExtraLight" pitchFamily="34" charset="-122"/>
                <a:cs typeface="Sora ExtraLight" pitchFamily="34" charset="0"/>
              </a:rPr>
              <a:t>01</a:t>
            </a:r>
            <a:endParaRPr lang="en-US" sz="1050" dirty="0"/>
          </a:p>
        </p:txBody>
      </p:sp>
      <p:sp>
        <p:nvSpPr>
          <p:cNvPr id="7" name="Text 5"/>
          <p:cNvSpPr/>
          <p:nvPr/>
        </p:nvSpPr>
        <p:spPr>
          <a:xfrm>
            <a:off x="5764366" y="1710293"/>
            <a:ext cx="1475644"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Sora Light" pitchFamily="34" charset="0"/>
                <a:ea typeface="Sora Light" pitchFamily="34" charset="-122"/>
                <a:cs typeface="Sora Light" pitchFamily="34" charset="0"/>
              </a:rPr>
              <a:t>Login page</a:t>
            </a:r>
            <a:endParaRPr lang="en-US" sz="1700" dirty="0"/>
          </a:p>
        </p:txBody>
      </p:sp>
      <p:sp>
        <p:nvSpPr>
          <p:cNvPr id="8" name="Text 6"/>
          <p:cNvSpPr/>
          <p:nvPr/>
        </p:nvSpPr>
        <p:spPr>
          <a:xfrm>
            <a:off x="5764366" y="2062659"/>
            <a:ext cx="1475644" cy="497681"/>
          </a:xfrm>
          <a:prstGeom prst="rect">
            <a:avLst/>
          </a:prstGeom>
          <a:noFill/>
          <a:ln/>
        </p:spPr>
        <p:txBody>
          <a:bodyPr wrap="square" lIns="0" tIns="0" rIns="0" bIns="0" rtlCol="0" anchor="t">
            <a:normAutofit/>
          </a:bodyPr>
          <a:lstStyle/>
          <a:p>
            <a:pPr marL="0" indent="0" algn="l">
              <a:lnSpc>
                <a:spcPct val="117000"/>
              </a:lnSpc>
              <a:buNone/>
            </a:pPr>
            <a:endParaRPr lang="en-US" sz="1400" dirty="0"/>
          </a:p>
        </p:txBody>
      </p:sp>
      <p:sp>
        <p:nvSpPr>
          <p:cNvPr id="9" name="Shape 7"/>
          <p:cNvSpPr/>
          <p:nvPr/>
        </p:nvSpPr>
        <p:spPr>
          <a:xfrm>
            <a:off x="7640049" y="986532"/>
            <a:ext cx="1971030" cy="1940223"/>
          </a:xfrm>
          <a:prstGeom prst="roundRect">
            <a:avLst>
              <a:gd name="adj" fmla="val 589"/>
            </a:avLst>
          </a:prstGeom>
          <a:solidFill>
            <a:srgbClr val="D4ECFF"/>
          </a:solidFill>
          <a:ln w="19050">
            <a:solidFill>
              <a:srgbClr val="2E6E9E"/>
            </a:solidFill>
            <a:prstDash val="solid"/>
          </a:ln>
        </p:spPr>
      </p:sp>
      <p:sp>
        <p:nvSpPr>
          <p:cNvPr id="10" name="Text 8"/>
          <p:cNvSpPr/>
          <p:nvPr/>
        </p:nvSpPr>
        <p:spPr>
          <a:xfrm>
            <a:off x="7887693" y="1235135"/>
            <a:ext cx="1723387" cy="186630"/>
          </a:xfrm>
          <a:prstGeom prst="rect">
            <a:avLst/>
          </a:prstGeom>
          <a:noFill/>
          <a:ln/>
        </p:spPr>
        <p:txBody>
          <a:bodyPr wrap="none" lIns="0" tIns="0" rIns="0" bIns="0" rtlCol="0" anchor="t"/>
          <a:lstStyle/>
          <a:p>
            <a:pPr marL="0" indent="0" algn="l">
              <a:lnSpc>
                <a:spcPct val="117000"/>
              </a:lnSpc>
              <a:buNone/>
            </a:pPr>
            <a:r>
              <a:rPr lang="en-US" sz="1050" dirty="0">
                <a:solidFill>
                  <a:srgbClr val="000000"/>
                </a:solidFill>
                <a:latin typeface="Sora ExtraLight" pitchFamily="34" charset="0"/>
                <a:ea typeface="Sora ExtraLight" pitchFamily="34" charset="-122"/>
                <a:cs typeface="Sora ExtraLight" pitchFamily="34" charset="0"/>
              </a:rPr>
              <a:t>02</a:t>
            </a:r>
            <a:endParaRPr lang="en-US" sz="1050" dirty="0"/>
          </a:p>
        </p:txBody>
      </p:sp>
      <p:sp>
        <p:nvSpPr>
          <p:cNvPr id="11" name="Text 9"/>
          <p:cNvSpPr/>
          <p:nvPr/>
        </p:nvSpPr>
        <p:spPr>
          <a:xfrm>
            <a:off x="7887693" y="1591628"/>
            <a:ext cx="1475743"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00000"/>
                </a:solidFill>
                <a:latin typeface="Sora Light" pitchFamily="34" charset="0"/>
                <a:ea typeface="Sora Light" pitchFamily="34" charset="-122"/>
                <a:cs typeface="Sora Light" pitchFamily="34" charset="0"/>
              </a:rPr>
              <a:t>Passenger dashboard</a:t>
            </a:r>
            <a:endParaRPr lang="en-US" sz="1700" dirty="0"/>
          </a:p>
        </p:txBody>
      </p:sp>
      <p:sp>
        <p:nvSpPr>
          <p:cNvPr id="12" name="Text 10"/>
          <p:cNvSpPr/>
          <p:nvPr/>
        </p:nvSpPr>
        <p:spPr>
          <a:xfrm>
            <a:off x="7887693" y="2181423"/>
            <a:ext cx="1475743" cy="497681"/>
          </a:xfrm>
          <a:prstGeom prst="rect">
            <a:avLst/>
          </a:prstGeom>
          <a:noFill/>
          <a:ln/>
        </p:spPr>
        <p:txBody>
          <a:bodyPr wrap="square" lIns="0" tIns="0" rIns="0" bIns="0" rtlCol="0" anchor="t">
            <a:normAutofit/>
          </a:bodyPr>
          <a:lstStyle/>
          <a:p>
            <a:pPr marL="0" indent="0" algn="l">
              <a:lnSpc>
                <a:spcPct val="117000"/>
              </a:lnSpc>
              <a:buNone/>
            </a:pPr>
            <a:endParaRPr lang="en-US" sz="1400" dirty="0"/>
          </a:p>
        </p:txBody>
      </p:sp>
      <p:sp>
        <p:nvSpPr>
          <p:cNvPr id="13" name="Shape 11"/>
          <p:cNvSpPr/>
          <p:nvPr/>
        </p:nvSpPr>
        <p:spPr>
          <a:xfrm>
            <a:off x="9763476" y="986532"/>
            <a:ext cx="1970931" cy="1940223"/>
          </a:xfrm>
          <a:prstGeom prst="roundRect">
            <a:avLst>
              <a:gd name="adj" fmla="val 589"/>
            </a:avLst>
          </a:prstGeom>
          <a:solidFill>
            <a:srgbClr val="D4ECFF"/>
          </a:solidFill>
          <a:ln w="19050">
            <a:solidFill>
              <a:srgbClr val="2E6E9E"/>
            </a:solidFill>
            <a:prstDash val="solid"/>
          </a:ln>
        </p:spPr>
      </p:sp>
      <p:sp>
        <p:nvSpPr>
          <p:cNvPr id="14" name="Text 12"/>
          <p:cNvSpPr/>
          <p:nvPr/>
        </p:nvSpPr>
        <p:spPr>
          <a:xfrm>
            <a:off x="10011120" y="1353800"/>
            <a:ext cx="1723287" cy="186630"/>
          </a:xfrm>
          <a:prstGeom prst="rect">
            <a:avLst/>
          </a:prstGeom>
          <a:noFill/>
          <a:ln/>
        </p:spPr>
        <p:txBody>
          <a:bodyPr wrap="none" lIns="0" tIns="0" rIns="0" bIns="0" rtlCol="0" anchor="t"/>
          <a:lstStyle/>
          <a:p>
            <a:pPr marL="0" indent="0" algn="l">
              <a:lnSpc>
                <a:spcPct val="117000"/>
              </a:lnSpc>
              <a:buNone/>
            </a:pPr>
            <a:r>
              <a:rPr lang="en-US" sz="1050" dirty="0">
                <a:solidFill>
                  <a:srgbClr val="000000"/>
                </a:solidFill>
                <a:latin typeface="Sora ExtraLight" pitchFamily="34" charset="0"/>
                <a:ea typeface="Sora ExtraLight" pitchFamily="34" charset="-122"/>
                <a:cs typeface="Sora ExtraLight" pitchFamily="34" charset="0"/>
              </a:rPr>
              <a:t>03</a:t>
            </a:r>
            <a:endParaRPr lang="en-US" sz="1050" dirty="0"/>
          </a:p>
        </p:txBody>
      </p:sp>
      <p:sp>
        <p:nvSpPr>
          <p:cNvPr id="15" name="Text 13"/>
          <p:cNvSpPr/>
          <p:nvPr/>
        </p:nvSpPr>
        <p:spPr>
          <a:xfrm>
            <a:off x="10011120" y="1710293"/>
            <a:ext cx="1475644"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Sora Light" pitchFamily="34" charset="0"/>
                <a:ea typeface="Sora Light" pitchFamily="34" charset="-122"/>
                <a:cs typeface="Sora Light" pitchFamily="34" charset="0"/>
              </a:rPr>
              <a:t>Flight search</a:t>
            </a:r>
            <a:endParaRPr lang="en-US" sz="1700" dirty="0"/>
          </a:p>
        </p:txBody>
      </p:sp>
      <p:sp>
        <p:nvSpPr>
          <p:cNvPr id="16" name="Text 14"/>
          <p:cNvSpPr/>
          <p:nvPr/>
        </p:nvSpPr>
        <p:spPr>
          <a:xfrm>
            <a:off x="10011120" y="2062659"/>
            <a:ext cx="1475644" cy="497681"/>
          </a:xfrm>
          <a:prstGeom prst="rect">
            <a:avLst/>
          </a:prstGeom>
          <a:noFill/>
          <a:ln/>
        </p:spPr>
        <p:txBody>
          <a:bodyPr wrap="square" lIns="0" tIns="0" rIns="0" bIns="0" rtlCol="0" anchor="t">
            <a:normAutofit/>
          </a:bodyPr>
          <a:lstStyle/>
          <a:p>
            <a:pPr marL="0" indent="0" algn="l">
              <a:lnSpc>
                <a:spcPct val="117000"/>
              </a:lnSpc>
              <a:buNone/>
            </a:pPr>
            <a:endParaRPr lang="en-US" sz="1400" dirty="0"/>
          </a:p>
        </p:txBody>
      </p:sp>
      <p:sp>
        <p:nvSpPr>
          <p:cNvPr id="17" name="Shape 15"/>
          <p:cNvSpPr/>
          <p:nvPr/>
        </p:nvSpPr>
        <p:spPr>
          <a:xfrm>
            <a:off x="5516722" y="3079155"/>
            <a:ext cx="3032644" cy="1691382"/>
          </a:xfrm>
          <a:prstGeom prst="roundRect">
            <a:avLst>
              <a:gd name="adj" fmla="val 676"/>
            </a:avLst>
          </a:prstGeom>
          <a:solidFill>
            <a:srgbClr val="D4ECFF"/>
          </a:solidFill>
          <a:ln w="19050">
            <a:solidFill>
              <a:srgbClr val="2E6E9E"/>
            </a:solidFill>
            <a:prstDash val="solid"/>
          </a:ln>
        </p:spPr>
        <p:txBody>
          <a:bodyPr/>
          <a:lstStyle/>
          <a:p>
            <a:endParaRPr lang="en-IN" dirty="0"/>
          </a:p>
        </p:txBody>
      </p:sp>
      <p:sp>
        <p:nvSpPr>
          <p:cNvPr id="18" name="Text 16"/>
          <p:cNvSpPr/>
          <p:nvPr/>
        </p:nvSpPr>
        <p:spPr>
          <a:xfrm>
            <a:off x="5764366" y="3446423"/>
            <a:ext cx="2785001" cy="186630"/>
          </a:xfrm>
          <a:prstGeom prst="rect">
            <a:avLst/>
          </a:prstGeom>
          <a:noFill/>
          <a:ln/>
        </p:spPr>
        <p:txBody>
          <a:bodyPr wrap="none" lIns="0" tIns="0" rIns="0" bIns="0" rtlCol="0" anchor="t"/>
          <a:lstStyle/>
          <a:p>
            <a:pPr marL="0" indent="0" algn="l">
              <a:lnSpc>
                <a:spcPct val="117000"/>
              </a:lnSpc>
              <a:buNone/>
            </a:pPr>
            <a:r>
              <a:rPr lang="en-US" sz="1050" dirty="0">
                <a:solidFill>
                  <a:srgbClr val="000000"/>
                </a:solidFill>
                <a:latin typeface="Sora ExtraLight" pitchFamily="34" charset="0"/>
                <a:ea typeface="Sora ExtraLight" pitchFamily="34" charset="-122"/>
                <a:cs typeface="Sora ExtraLight" pitchFamily="34" charset="0"/>
              </a:rPr>
              <a:t>04</a:t>
            </a:r>
            <a:endParaRPr lang="en-US" sz="1050" dirty="0"/>
          </a:p>
        </p:txBody>
      </p:sp>
      <p:sp>
        <p:nvSpPr>
          <p:cNvPr id="19" name="Text 17"/>
          <p:cNvSpPr/>
          <p:nvPr/>
        </p:nvSpPr>
        <p:spPr>
          <a:xfrm>
            <a:off x="5764366" y="3802916"/>
            <a:ext cx="2537357"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Sora Light" pitchFamily="34" charset="0"/>
                <a:ea typeface="Sora Light" pitchFamily="34" charset="-122"/>
                <a:cs typeface="Sora Light" pitchFamily="34" charset="0"/>
              </a:rPr>
              <a:t>Booking details</a:t>
            </a:r>
            <a:endParaRPr lang="en-US" sz="1700" dirty="0"/>
          </a:p>
        </p:txBody>
      </p:sp>
      <p:sp>
        <p:nvSpPr>
          <p:cNvPr id="20" name="Text 18"/>
          <p:cNvSpPr/>
          <p:nvPr/>
        </p:nvSpPr>
        <p:spPr>
          <a:xfrm>
            <a:off x="5764366" y="4155281"/>
            <a:ext cx="2785001" cy="248841"/>
          </a:xfrm>
          <a:prstGeom prst="rect">
            <a:avLst/>
          </a:prstGeom>
          <a:noFill/>
          <a:ln/>
        </p:spPr>
        <p:txBody>
          <a:bodyPr wrap="none" lIns="0" tIns="0" rIns="0" bIns="0" rtlCol="0" anchor="t"/>
          <a:lstStyle/>
          <a:p>
            <a:pPr marL="0" indent="0" algn="l">
              <a:lnSpc>
                <a:spcPct val="117000"/>
              </a:lnSpc>
              <a:buNone/>
            </a:pPr>
            <a:endParaRPr lang="en-US" sz="1400" dirty="0"/>
          </a:p>
        </p:txBody>
      </p:sp>
      <p:sp>
        <p:nvSpPr>
          <p:cNvPr id="21" name="Shape 19"/>
          <p:cNvSpPr/>
          <p:nvPr/>
        </p:nvSpPr>
        <p:spPr>
          <a:xfrm>
            <a:off x="8701763" y="3079155"/>
            <a:ext cx="3032644" cy="1691382"/>
          </a:xfrm>
          <a:prstGeom prst="roundRect">
            <a:avLst>
              <a:gd name="adj" fmla="val 676"/>
            </a:avLst>
          </a:prstGeom>
          <a:solidFill>
            <a:srgbClr val="D4ECFF"/>
          </a:solidFill>
          <a:ln w="19050">
            <a:solidFill>
              <a:srgbClr val="2E6E9E"/>
            </a:solidFill>
            <a:prstDash val="solid"/>
          </a:ln>
        </p:spPr>
      </p:sp>
      <p:sp>
        <p:nvSpPr>
          <p:cNvPr id="22" name="Text 20"/>
          <p:cNvSpPr/>
          <p:nvPr/>
        </p:nvSpPr>
        <p:spPr>
          <a:xfrm>
            <a:off x="8949407" y="3327757"/>
            <a:ext cx="2785001" cy="186630"/>
          </a:xfrm>
          <a:prstGeom prst="rect">
            <a:avLst/>
          </a:prstGeom>
          <a:noFill/>
          <a:ln/>
        </p:spPr>
        <p:txBody>
          <a:bodyPr wrap="none" lIns="0" tIns="0" rIns="0" bIns="0" rtlCol="0" anchor="t"/>
          <a:lstStyle/>
          <a:p>
            <a:pPr marL="0" indent="0" algn="l">
              <a:lnSpc>
                <a:spcPct val="117000"/>
              </a:lnSpc>
              <a:buNone/>
            </a:pPr>
            <a:r>
              <a:rPr lang="en-US" sz="1050" dirty="0">
                <a:solidFill>
                  <a:srgbClr val="000000"/>
                </a:solidFill>
                <a:latin typeface="Sora ExtraLight" pitchFamily="34" charset="0"/>
                <a:ea typeface="Sora ExtraLight" pitchFamily="34" charset="-122"/>
                <a:cs typeface="Sora ExtraLight" pitchFamily="34" charset="0"/>
              </a:rPr>
              <a:t>05</a:t>
            </a:r>
            <a:endParaRPr lang="en-US" sz="1050" dirty="0"/>
          </a:p>
        </p:txBody>
      </p:sp>
      <p:sp>
        <p:nvSpPr>
          <p:cNvPr id="23" name="Text 21"/>
          <p:cNvSpPr/>
          <p:nvPr/>
        </p:nvSpPr>
        <p:spPr>
          <a:xfrm>
            <a:off x="8949407" y="3684250"/>
            <a:ext cx="253735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00000"/>
                </a:solidFill>
                <a:latin typeface="Sora Light" pitchFamily="34" charset="0"/>
                <a:ea typeface="Sora Light" pitchFamily="34" charset="-122"/>
                <a:cs typeface="Sora Light" pitchFamily="34" charset="0"/>
              </a:rPr>
              <a:t>Admin flight management</a:t>
            </a:r>
            <a:endParaRPr lang="en-US" sz="1700" dirty="0"/>
          </a:p>
        </p:txBody>
      </p:sp>
      <p:sp>
        <p:nvSpPr>
          <p:cNvPr id="24" name="Text 22"/>
          <p:cNvSpPr/>
          <p:nvPr/>
        </p:nvSpPr>
        <p:spPr>
          <a:xfrm>
            <a:off x="8949407" y="4274046"/>
            <a:ext cx="2785001" cy="248841"/>
          </a:xfrm>
          <a:prstGeom prst="rect">
            <a:avLst/>
          </a:prstGeom>
          <a:noFill/>
          <a:ln/>
        </p:spPr>
        <p:txBody>
          <a:bodyPr wrap="none" lIns="0" tIns="0" rIns="0" bIns="0" rtlCol="0" anchor="t"/>
          <a:lstStyle/>
          <a:p>
            <a:pPr marL="0" indent="0" algn="l">
              <a:lnSpc>
                <a:spcPct val="117000"/>
              </a:lnSpc>
              <a:buNone/>
            </a:pPr>
            <a:endParaRPr lang="en-US" sz="1400" dirty="0"/>
          </a:p>
        </p:txBody>
      </p:sp>
      <p:sp>
        <p:nvSpPr>
          <p:cNvPr id="26" name="Text 24"/>
          <p:cNvSpPr/>
          <p:nvPr/>
        </p:nvSpPr>
        <p:spPr>
          <a:xfrm>
            <a:off x="5694518" y="5151537"/>
            <a:ext cx="5862193" cy="497681"/>
          </a:xfrm>
          <a:prstGeom prst="rect">
            <a:avLst/>
          </a:prstGeom>
          <a:noFill/>
          <a:ln/>
        </p:spPr>
        <p:txBody>
          <a:bodyPr wrap="square" lIns="0" tIns="0" rIns="0" bIns="0" rtlCol="0" anchor="t">
            <a:normAutofit/>
          </a:bodyPr>
          <a:lstStyle/>
          <a:p>
            <a:pPr marL="0" indent="0" algn="l">
              <a:lnSpc>
                <a:spcPct val="117000"/>
              </a:lnSpc>
              <a:buNone/>
            </a:pP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544969"/>
            <a:ext cx="5486263"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BOOKING WORKFLOW</a:t>
            </a:r>
            <a:endParaRPr lang="en-US" sz="1050" dirty="0"/>
          </a:p>
        </p:txBody>
      </p:sp>
      <p:sp>
        <p:nvSpPr>
          <p:cNvPr id="3" name="Text 1"/>
          <p:cNvSpPr/>
          <p:nvPr/>
        </p:nvSpPr>
        <p:spPr>
          <a:xfrm>
            <a:off x="457189" y="840819"/>
            <a:ext cx="5486263" cy="3352602"/>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0A3A5C"/>
                </a:solidFill>
                <a:latin typeface="Sora Light" pitchFamily="34" charset="0"/>
                <a:ea typeface="Sora Light" pitchFamily="34" charset="-122"/>
                <a:cs typeface="Sora Light" pitchFamily="34" charset="0"/>
              </a:rPr>
              <a:t>The booking workflow moves from validated input to confirmation</a:t>
            </a:r>
            <a:endParaRPr lang="en-US" sz="4800" dirty="0"/>
          </a:p>
        </p:txBody>
      </p:sp>
      <p:sp>
        <p:nvSpPr>
          <p:cNvPr id="4" name="Text 2"/>
          <p:cNvSpPr/>
          <p:nvPr/>
        </p:nvSpPr>
        <p:spPr>
          <a:xfrm>
            <a:off x="457189" y="4334073"/>
            <a:ext cx="548626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Each step follows the next from passenger access to a confirmed booking.</a:t>
            </a:r>
            <a:endParaRPr lang="en-US" sz="1400" dirty="0"/>
          </a:p>
        </p:txBody>
      </p:sp>
      <p:sp>
        <p:nvSpPr>
          <p:cNvPr id="5" name="Shape 3"/>
          <p:cNvSpPr/>
          <p:nvPr/>
        </p:nvSpPr>
        <p:spPr>
          <a:xfrm>
            <a:off x="6248244" y="544016"/>
            <a:ext cx="2666933" cy="1069280"/>
          </a:xfrm>
          <a:prstGeom prst="rect">
            <a:avLst/>
          </a:prstGeom>
          <a:solidFill>
            <a:srgbClr val="0A3A5C"/>
          </a:solidFill>
          <a:ln/>
        </p:spPr>
      </p:sp>
      <p:sp>
        <p:nvSpPr>
          <p:cNvPr id="6" name="Text 4"/>
          <p:cNvSpPr/>
          <p:nvPr/>
        </p:nvSpPr>
        <p:spPr>
          <a:xfrm>
            <a:off x="6476838" y="772616"/>
            <a:ext cx="819626"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01</a:t>
            </a:r>
            <a:endParaRPr lang="en-US" sz="1400" dirty="0"/>
          </a:p>
        </p:txBody>
      </p:sp>
      <p:sp>
        <p:nvSpPr>
          <p:cNvPr id="7" name="Shape 5"/>
          <p:cNvSpPr/>
          <p:nvPr/>
        </p:nvSpPr>
        <p:spPr>
          <a:xfrm>
            <a:off x="6476838" y="1021556"/>
            <a:ext cx="2209745" cy="19050"/>
          </a:xfrm>
          <a:prstGeom prst="rect">
            <a:avLst/>
          </a:prstGeom>
          <a:solidFill>
            <a:srgbClr val="7EC1FF"/>
          </a:solidFill>
          <a:ln/>
        </p:spPr>
      </p:sp>
      <p:sp>
        <p:nvSpPr>
          <p:cNvPr id="8" name="Text 6"/>
          <p:cNvSpPr/>
          <p:nvPr/>
        </p:nvSpPr>
        <p:spPr>
          <a:xfrm>
            <a:off x="6476838" y="1159331"/>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Login</a:t>
            </a:r>
            <a:endParaRPr lang="en-US" sz="1700" dirty="0"/>
          </a:p>
        </p:txBody>
      </p:sp>
      <p:sp>
        <p:nvSpPr>
          <p:cNvPr id="9" name="Shape 7"/>
          <p:cNvSpPr/>
          <p:nvPr/>
        </p:nvSpPr>
        <p:spPr>
          <a:xfrm>
            <a:off x="9067573" y="544016"/>
            <a:ext cx="2666933" cy="1069280"/>
          </a:xfrm>
          <a:prstGeom prst="rect">
            <a:avLst/>
          </a:prstGeom>
          <a:solidFill>
            <a:srgbClr val="0A3A5C"/>
          </a:solidFill>
          <a:ln/>
        </p:spPr>
      </p:sp>
      <p:sp>
        <p:nvSpPr>
          <p:cNvPr id="10" name="Text 8"/>
          <p:cNvSpPr/>
          <p:nvPr/>
        </p:nvSpPr>
        <p:spPr>
          <a:xfrm>
            <a:off x="9296167" y="772616"/>
            <a:ext cx="855542"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02</a:t>
            </a:r>
            <a:endParaRPr lang="en-US" sz="1400" dirty="0"/>
          </a:p>
        </p:txBody>
      </p:sp>
      <p:sp>
        <p:nvSpPr>
          <p:cNvPr id="11" name="Shape 9"/>
          <p:cNvSpPr/>
          <p:nvPr/>
        </p:nvSpPr>
        <p:spPr>
          <a:xfrm>
            <a:off x="9296167" y="1021556"/>
            <a:ext cx="2209745" cy="19050"/>
          </a:xfrm>
          <a:prstGeom prst="rect">
            <a:avLst/>
          </a:prstGeom>
          <a:solidFill>
            <a:srgbClr val="7EC1FF"/>
          </a:solidFill>
          <a:ln/>
        </p:spPr>
      </p:sp>
      <p:sp>
        <p:nvSpPr>
          <p:cNvPr id="12" name="Text 10"/>
          <p:cNvSpPr/>
          <p:nvPr/>
        </p:nvSpPr>
        <p:spPr>
          <a:xfrm>
            <a:off x="9296167" y="1159331"/>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Search Flight</a:t>
            </a:r>
            <a:endParaRPr lang="en-US" sz="1700" dirty="0"/>
          </a:p>
        </p:txBody>
      </p:sp>
      <p:sp>
        <p:nvSpPr>
          <p:cNvPr id="13" name="Shape 11"/>
          <p:cNvSpPr/>
          <p:nvPr/>
        </p:nvSpPr>
        <p:spPr>
          <a:xfrm>
            <a:off x="6248244" y="1765697"/>
            <a:ext cx="2666933" cy="1306711"/>
          </a:xfrm>
          <a:prstGeom prst="rect">
            <a:avLst/>
          </a:prstGeom>
          <a:solidFill>
            <a:srgbClr val="0A3A5C"/>
          </a:solidFill>
          <a:ln/>
        </p:spPr>
      </p:sp>
      <p:sp>
        <p:nvSpPr>
          <p:cNvPr id="14" name="Text 12"/>
          <p:cNvSpPr/>
          <p:nvPr/>
        </p:nvSpPr>
        <p:spPr>
          <a:xfrm>
            <a:off x="6476838" y="1994297"/>
            <a:ext cx="85534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03</a:t>
            </a:r>
            <a:endParaRPr lang="en-US" sz="1400" dirty="0"/>
          </a:p>
        </p:txBody>
      </p:sp>
      <p:sp>
        <p:nvSpPr>
          <p:cNvPr id="15" name="Shape 13"/>
          <p:cNvSpPr/>
          <p:nvPr/>
        </p:nvSpPr>
        <p:spPr>
          <a:xfrm>
            <a:off x="6476838" y="2243237"/>
            <a:ext cx="2209745" cy="19050"/>
          </a:xfrm>
          <a:prstGeom prst="rect">
            <a:avLst/>
          </a:prstGeom>
          <a:solidFill>
            <a:srgbClr val="7EC1FF"/>
          </a:solidFill>
          <a:ln/>
        </p:spPr>
      </p:sp>
      <p:sp>
        <p:nvSpPr>
          <p:cNvPr id="16" name="Text 14"/>
          <p:cNvSpPr/>
          <p:nvPr/>
        </p:nvSpPr>
        <p:spPr>
          <a:xfrm>
            <a:off x="6476838" y="2381012"/>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Select Flight</a:t>
            </a:r>
            <a:endParaRPr lang="en-US" sz="1700" dirty="0"/>
          </a:p>
        </p:txBody>
      </p:sp>
      <p:sp>
        <p:nvSpPr>
          <p:cNvPr id="17" name="Shape 15"/>
          <p:cNvSpPr/>
          <p:nvPr/>
        </p:nvSpPr>
        <p:spPr>
          <a:xfrm>
            <a:off x="9067573" y="1765697"/>
            <a:ext cx="2666933" cy="1306711"/>
          </a:xfrm>
          <a:prstGeom prst="rect">
            <a:avLst/>
          </a:prstGeom>
          <a:solidFill>
            <a:srgbClr val="0A3A5C"/>
          </a:solidFill>
          <a:ln/>
        </p:spPr>
      </p:sp>
      <p:sp>
        <p:nvSpPr>
          <p:cNvPr id="18" name="Text 16"/>
          <p:cNvSpPr/>
          <p:nvPr/>
        </p:nvSpPr>
        <p:spPr>
          <a:xfrm>
            <a:off x="9296167" y="1994297"/>
            <a:ext cx="86179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04</a:t>
            </a:r>
            <a:endParaRPr lang="en-US" sz="1400" dirty="0"/>
          </a:p>
        </p:txBody>
      </p:sp>
      <p:sp>
        <p:nvSpPr>
          <p:cNvPr id="19" name="Shape 17"/>
          <p:cNvSpPr/>
          <p:nvPr/>
        </p:nvSpPr>
        <p:spPr>
          <a:xfrm>
            <a:off x="9296167" y="2243237"/>
            <a:ext cx="2209745" cy="19050"/>
          </a:xfrm>
          <a:prstGeom prst="rect">
            <a:avLst/>
          </a:prstGeom>
          <a:solidFill>
            <a:srgbClr val="7EC1FF"/>
          </a:solidFill>
          <a:ln/>
        </p:spPr>
      </p:sp>
      <p:sp>
        <p:nvSpPr>
          <p:cNvPr id="20" name="Text 18"/>
          <p:cNvSpPr/>
          <p:nvPr/>
        </p:nvSpPr>
        <p:spPr>
          <a:xfrm>
            <a:off x="9296167" y="2381012"/>
            <a:ext cx="2209745"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Enter Passenger Details</a:t>
            </a:r>
            <a:endParaRPr lang="en-US" sz="1700" dirty="0"/>
          </a:p>
        </p:txBody>
      </p:sp>
      <p:sp>
        <p:nvSpPr>
          <p:cNvPr id="21" name="Shape 19"/>
          <p:cNvSpPr/>
          <p:nvPr/>
        </p:nvSpPr>
        <p:spPr>
          <a:xfrm>
            <a:off x="6248244" y="3224808"/>
            <a:ext cx="2666933" cy="1069280"/>
          </a:xfrm>
          <a:prstGeom prst="rect">
            <a:avLst/>
          </a:prstGeom>
          <a:solidFill>
            <a:srgbClr val="0A3A5C"/>
          </a:solidFill>
          <a:ln/>
        </p:spPr>
      </p:sp>
      <p:sp>
        <p:nvSpPr>
          <p:cNvPr id="22" name="Text 20"/>
          <p:cNvSpPr/>
          <p:nvPr/>
        </p:nvSpPr>
        <p:spPr>
          <a:xfrm>
            <a:off x="6476838" y="3453408"/>
            <a:ext cx="857328"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05</a:t>
            </a:r>
            <a:endParaRPr lang="en-US" sz="1400" dirty="0"/>
          </a:p>
        </p:txBody>
      </p:sp>
      <p:sp>
        <p:nvSpPr>
          <p:cNvPr id="23" name="Shape 21"/>
          <p:cNvSpPr/>
          <p:nvPr/>
        </p:nvSpPr>
        <p:spPr>
          <a:xfrm>
            <a:off x="6476838" y="3702348"/>
            <a:ext cx="2209745" cy="19050"/>
          </a:xfrm>
          <a:prstGeom prst="rect">
            <a:avLst/>
          </a:prstGeom>
          <a:solidFill>
            <a:srgbClr val="7EC1FF"/>
          </a:solidFill>
          <a:ln/>
        </p:spPr>
      </p:sp>
      <p:sp>
        <p:nvSpPr>
          <p:cNvPr id="24" name="Text 22"/>
          <p:cNvSpPr/>
          <p:nvPr/>
        </p:nvSpPr>
        <p:spPr>
          <a:xfrm>
            <a:off x="6476838" y="3840123"/>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Validate Details</a:t>
            </a:r>
            <a:endParaRPr lang="en-US" sz="1700" dirty="0"/>
          </a:p>
        </p:txBody>
      </p:sp>
      <p:sp>
        <p:nvSpPr>
          <p:cNvPr id="25" name="Shape 23"/>
          <p:cNvSpPr/>
          <p:nvPr/>
        </p:nvSpPr>
        <p:spPr>
          <a:xfrm>
            <a:off x="9067573" y="3224808"/>
            <a:ext cx="2666933" cy="1069280"/>
          </a:xfrm>
          <a:prstGeom prst="rect">
            <a:avLst/>
          </a:prstGeom>
          <a:solidFill>
            <a:srgbClr val="0A3A5C"/>
          </a:solidFill>
          <a:ln/>
        </p:spPr>
      </p:sp>
      <p:sp>
        <p:nvSpPr>
          <p:cNvPr id="26" name="Text 24"/>
          <p:cNvSpPr/>
          <p:nvPr/>
        </p:nvSpPr>
        <p:spPr>
          <a:xfrm>
            <a:off x="9296167" y="3453408"/>
            <a:ext cx="864571"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06</a:t>
            </a:r>
            <a:endParaRPr lang="en-US" sz="1400" dirty="0"/>
          </a:p>
        </p:txBody>
      </p:sp>
      <p:sp>
        <p:nvSpPr>
          <p:cNvPr id="27" name="Shape 25"/>
          <p:cNvSpPr/>
          <p:nvPr/>
        </p:nvSpPr>
        <p:spPr>
          <a:xfrm>
            <a:off x="9296167" y="3702348"/>
            <a:ext cx="2209745" cy="19050"/>
          </a:xfrm>
          <a:prstGeom prst="rect">
            <a:avLst/>
          </a:prstGeom>
          <a:solidFill>
            <a:srgbClr val="7EC1FF"/>
          </a:solidFill>
          <a:ln/>
        </p:spPr>
      </p:sp>
      <p:sp>
        <p:nvSpPr>
          <p:cNvPr id="28" name="Text 26"/>
          <p:cNvSpPr/>
          <p:nvPr/>
        </p:nvSpPr>
        <p:spPr>
          <a:xfrm>
            <a:off x="9296167" y="3840123"/>
            <a:ext cx="220974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Create Booking</a:t>
            </a:r>
            <a:endParaRPr lang="en-US" sz="1700" dirty="0"/>
          </a:p>
        </p:txBody>
      </p:sp>
      <p:sp>
        <p:nvSpPr>
          <p:cNvPr id="29" name="Shape 27"/>
          <p:cNvSpPr/>
          <p:nvPr/>
        </p:nvSpPr>
        <p:spPr>
          <a:xfrm>
            <a:off x="6248244" y="4446488"/>
            <a:ext cx="5486263" cy="1069280"/>
          </a:xfrm>
          <a:prstGeom prst="rect">
            <a:avLst/>
          </a:prstGeom>
          <a:solidFill>
            <a:srgbClr val="0A3A5C"/>
          </a:solidFill>
          <a:ln/>
        </p:spPr>
      </p:sp>
      <p:sp>
        <p:nvSpPr>
          <p:cNvPr id="30" name="Text 28"/>
          <p:cNvSpPr/>
          <p:nvPr/>
        </p:nvSpPr>
        <p:spPr>
          <a:xfrm>
            <a:off x="6476838" y="4675088"/>
            <a:ext cx="849986"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Sora SemiBold" pitchFamily="34" charset="0"/>
                <a:ea typeface="Sora SemiBold" pitchFamily="34" charset="-122"/>
                <a:cs typeface="Sora SemiBold" pitchFamily="34" charset="0"/>
              </a:rPr>
              <a:t>07</a:t>
            </a:r>
            <a:endParaRPr lang="en-US" sz="1400" dirty="0"/>
          </a:p>
        </p:txBody>
      </p:sp>
      <p:sp>
        <p:nvSpPr>
          <p:cNvPr id="31" name="Shape 29"/>
          <p:cNvSpPr/>
          <p:nvPr/>
        </p:nvSpPr>
        <p:spPr>
          <a:xfrm>
            <a:off x="6476838" y="4924028"/>
            <a:ext cx="5029074" cy="19050"/>
          </a:xfrm>
          <a:prstGeom prst="rect">
            <a:avLst/>
          </a:prstGeom>
          <a:solidFill>
            <a:srgbClr val="7EC1FF"/>
          </a:solidFill>
          <a:ln/>
        </p:spPr>
      </p:sp>
      <p:sp>
        <p:nvSpPr>
          <p:cNvPr id="32" name="Text 30"/>
          <p:cNvSpPr/>
          <p:nvPr/>
        </p:nvSpPr>
        <p:spPr>
          <a:xfrm>
            <a:off x="6476838" y="5061803"/>
            <a:ext cx="5029074"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ora Light" pitchFamily="34" charset="0"/>
                <a:ea typeface="Sora Light" pitchFamily="34" charset="-122"/>
                <a:cs typeface="Sora Light" pitchFamily="34" charset="0"/>
              </a:rPr>
              <a:t>Display Confirmation</a:t>
            </a:r>
            <a:endParaRPr lang="en-US" sz="1700" dirty="0"/>
          </a:p>
        </p:txBody>
      </p:sp>
      <p:sp>
        <p:nvSpPr>
          <p:cNvPr id="33" name="Shape 31"/>
          <p:cNvSpPr/>
          <p:nvPr/>
        </p:nvSpPr>
        <p:spPr>
          <a:xfrm>
            <a:off x="6248244" y="5620544"/>
            <a:ext cx="5486263" cy="693341"/>
          </a:xfrm>
          <a:prstGeom prst="roundRect">
            <a:avLst>
              <a:gd name="adj" fmla="val 1648"/>
            </a:avLst>
          </a:prstGeom>
          <a:solidFill>
            <a:srgbClr val="CCE6FF"/>
          </a:solidFill>
          <a:ln/>
        </p:spPr>
      </p:sp>
      <p:sp>
        <p:nvSpPr>
          <p:cNvPr id="34" name="Text 32"/>
          <p:cNvSpPr/>
          <p:nvPr/>
        </p:nvSpPr>
        <p:spPr>
          <a:xfrm>
            <a:off x="6426039" y="5842794"/>
            <a:ext cx="5308467"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Model diagram to be added from source code.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527506"/>
            <a:ext cx="1173450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06ACC"/>
                </a:solidFill>
                <a:latin typeface="Sora ExtraLight" pitchFamily="34" charset="0"/>
                <a:ea typeface="Sora ExtraLight" pitchFamily="34" charset="-122"/>
                <a:cs typeface="Sora ExtraLight" pitchFamily="34" charset="0"/>
              </a:rPr>
              <a:t>QUALITY AND NEXT STEPS</a:t>
            </a:r>
            <a:endParaRPr lang="en-US" sz="1050" dirty="0"/>
          </a:p>
        </p:txBody>
      </p:sp>
      <p:sp>
        <p:nvSpPr>
          <p:cNvPr id="3" name="Text 1"/>
          <p:cNvSpPr/>
          <p:nvPr/>
        </p:nvSpPr>
        <p:spPr>
          <a:xfrm>
            <a:off x="457189" y="823357"/>
            <a:ext cx="11277318" cy="1341041"/>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0A3A5C"/>
                </a:solidFill>
                <a:latin typeface="Sora Light" pitchFamily="34" charset="0"/>
                <a:ea typeface="Sora Light" pitchFamily="34" charset="-122"/>
                <a:cs typeface="Sora Light" pitchFamily="34" charset="0"/>
              </a:rPr>
              <a:t>Testing covers core behavior; integrations remain future work</a:t>
            </a:r>
            <a:endParaRPr lang="en-US" sz="4800" dirty="0"/>
          </a:p>
        </p:txBody>
      </p:sp>
      <p:sp>
        <p:nvSpPr>
          <p:cNvPr id="4" name="Text 2"/>
          <p:cNvSpPr/>
          <p:nvPr/>
        </p:nvSpPr>
        <p:spPr>
          <a:xfrm>
            <a:off x="457189" y="2305050"/>
            <a:ext cx="11734506"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Sora ExtraLight" pitchFamily="34" charset="0"/>
                <a:ea typeface="Sora ExtraLight" pitchFamily="34" charset="-122"/>
                <a:cs typeface="Sora ExtraLight" pitchFamily="34" charset="0"/>
              </a:rPr>
              <a:t>Testing areas: functional, validation, integration, and system testing.</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06319873"/>
              </p:ext>
            </p:extLst>
          </p:nvPr>
        </p:nvGraphicFramePr>
        <p:xfrm>
          <a:off x="457189" y="2941241"/>
          <a:ext cx="7315016" cy="1979960"/>
        </p:xfrm>
        <a:graphic>
          <a:graphicData uri="http://schemas.openxmlformats.org/drawingml/2006/table">
            <a:tbl>
              <a:tblPr/>
              <a:tblGrid>
                <a:gridCol w="2048121">
                  <a:extLst>
                    <a:ext uri="{9D8B030D-6E8A-4147-A177-3AD203B41FA5}">
                      <a16:colId xmlns:a16="http://schemas.microsoft.com/office/drawing/2014/main" val="20000"/>
                    </a:ext>
                  </a:extLst>
                </a:gridCol>
                <a:gridCol w="2194465">
                  <a:extLst>
                    <a:ext uri="{9D8B030D-6E8A-4147-A177-3AD203B41FA5}">
                      <a16:colId xmlns:a16="http://schemas.microsoft.com/office/drawing/2014/main" val="20001"/>
                    </a:ext>
                  </a:extLst>
                </a:gridCol>
                <a:gridCol w="3072430">
                  <a:extLst>
                    <a:ext uri="{9D8B030D-6E8A-4147-A177-3AD203B41FA5}">
                      <a16:colId xmlns:a16="http://schemas.microsoft.com/office/drawing/2014/main" val="20002"/>
                    </a:ext>
                  </a:extLst>
                </a:gridCol>
              </a:tblGrid>
              <a:tr h="397262">
                <a:tc>
                  <a:txBody>
                    <a:bodyPr/>
                    <a:lstStyle/>
                    <a:p>
                      <a:pPr marL="0" indent="0" algn="l">
                        <a:buNone/>
                      </a:pPr>
                      <a:r>
                        <a:rPr lang="en-US" sz="1400" dirty="0">
                          <a:solidFill>
                            <a:srgbClr val="0A3A5C"/>
                          </a:solidFill>
                          <a:latin typeface="Sora" pitchFamily="34" charset="0"/>
                          <a:ea typeface="Sora" pitchFamily="34" charset="-122"/>
                          <a:cs typeface="Sora" pitchFamily="34" charset="0"/>
                        </a:rPr>
                        <a:t>Testing area</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FAFBFD"/>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A3A5C"/>
                          </a:solidFill>
                          <a:latin typeface="Sora" pitchFamily="34" charset="0"/>
                          <a:ea typeface="Sora" pitchFamily="34" charset="-122"/>
                          <a:cs typeface="Sora" pitchFamily="34" charset="0"/>
                        </a:rPr>
                        <a:t>Focus</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FAFBFD"/>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A3A5C"/>
                          </a:solidFill>
                          <a:latin typeface="Sora" pitchFamily="34" charset="0"/>
                          <a:ea typeface="Sora" pitchFamily="34" charset="-122"/>
                          <a:cs typeface="Sora" pitchFamily="34" charset="0"/>
                        </a:rPr>
                        <a:t>Test result</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FAFBFD"/>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extLst>
                  <a:ext uri="{0D108BD9-81ED-4DB2-BD59-A6C34878D82A}">
                    <a16:rowId xmlns:a16="http://schemas.microsoft.com/office/drawing/2014/main" val="10000"/>
                  </a:ext>
                </a:extLst>
              </a:tr>
              <a:tr h="397262">
                <a:tc>
                  <a:txBody>
                    <a:bodyPr/>
                    <a:lstStyle/>
                    <a:p>
                      <a:pPr marL="0" indent="0" algn="l">
                        <a:buNone/>
                      </a:pPr>
                      <a:r>
                        <a:rPr lang="en-US" sz="1400" dirty="0">
                          <a:solidFill>
                            <a:srgbClr val="000000"/>
                          </a:solidFill>
                          <a:latin typeface="Sora" pitchFamily="34" charset="0"/>
                          <a:ea typeface="Sora" pitchFamily="34" charset="-122"/>
                          <a:cs typeface="Sora" pitchFamily="34" charset="0"/>
                        </a:rPr>
                        <a:t>Functional</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Core behavior</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Pass</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extLst>
                  <a:ext uri="{0D108BD9-81ED-4DB2-BD59-A6C34878D82A}">
                    <a16:rowId xmlns:a16="http://schemas.microsoft.com/office/drawing/2014/main" val="10001"/>
                  </a:ext>
                </a:extLst>
              </a:tr>
              <a:tr h="397262">
                <a:tc>
                  <a:txBody>
                    <a:bodyPr/>
                    <a:lstStyle/>
                    <a:p>
                      <a:pPr marL="0" indent="0" algn="l">
                        <a:buNone/>
                      </a:pPr>
                      <a:r>
                        <a:rPr lang="en-US" sz="1400" dirty="0">
                          <a:solidFill>
                            <a:srgbClr val="000000"/>
                          </a:solidFill>
                          <a:latin typeface="Sora" pitchFamily="34" charset="0"/>
                          <a:ea typeface="Sora" pitchFamily="34" charset="-122"/>
                          <a:cs typeface="Sora" pitchFamily="34" charset="0"/>
                        </a:rPr>
                        <a:t>Validation</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Input handling</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Pass</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extLst>
                  <a:ext uri="{0D108BD9-81ED-4DB2-BD59-A6C34878D82A}">
                    <a16:rowId xmlns:a16="http://schemas.microsoft.com/office/drawing/2014/main" val="10002"/>
                  </a:ext>
                </a:extLst>
              </a:tr>
              <a:tr h="397262">
                <a:tc>
                  <a:txBody>
                    <a:bodyPr/>
                    <a:lstStyle/>
                    <a:p>
                      <a:pPr marL="0" indent="0" algn="l">
                        <a:buNone/>
                      </a:pPr>
                      <a:r>
                        <a:rPr lang="en-US" sz="1400" dirty="0">
                          <a:solidFill>
                            <a:srgbClr val="000000"/>
                          </a:solidFill>
                          <a:latin typeface="Sora" pitchFamily="34" charset="0"/>
                          <a:ea typeface="Sora" pitchFamily="34" charset="-122"/>
                          <a:cs typeface="Sora" pitchFamily="34" charset="0"/>
                        </a:rPr>
                        <a:t>Integration</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Connected behavior</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Pass</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2E6E9E"/>
                      </a:solidFill>
                      <a:prstDash val="solid"/>
                      <a:round/>
                      <a:headEnd type="none" w="med" len="med"/>
                      <a:tailEnd type="none" w="med" len="med"/>
                    </a:lnB>
                  </a:tcPr>
                </a:tc>
                <a:extLst>
                  <a:ext uri="{0D108BD9-81ED-4DB2-BD59-A6C34878D82A}">
                    <a16:rowId xmlns:a16="http://schemas.microsoft.com/office/drawing/2014/main" val="10003"/>
                  </a:ext>
                </a:extLst>
              </a:tr>
              <a:tr h="390912">
                <a:tc>
                  <a:txBody>
                    <a:bodyPr/>
                    <a:lstStyle/>
                    <a:p>
                      <a:pPr marL="0" indent="0" algn="l">
                        <a:buNone/>
                      </a:pPr>
                      <a:r>
                        <a:rPr lang="en-US" sz="1400" dirty="0">
                          <a:solidFill>
                            <a:srgbClr val="000000"/>
                          </a:solidFill>
                          <a:latin typeface="Sora" pitchFamily="34" charset="0"/>
                          <a:ea typeface="Sora" pitchFamily="34" charset="-122"/>
                          <a:cs typeface="Sora" pitchFamily="34" charset="0"/>
                        </a:rPr>
                        <a:t>System</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FAFBFD"/>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Application flow</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FAFBFD"/>
                      </a:solidFill>
                      <a:prstDash val="solid"/>
                      <a:round/>
                      <a:headEnd type="none" w="med" len="med"/>
                      <a:tailEnd type="none" w="med" len="med"/>
                    </a:lnB>
                  </a:tcPr>
                </a:tc>
                <a:tc>
                  <a:txBody>
                    <a:bodyPr/>
                    <a:lstStyle/>
                    <a:p>
                      <a:pPr marL="0" indent="0" algn="l">
                        <a:buNone/>
                      </a:pPr>
                      <a:r>
                        <a:rPr lang="en-US" sz="1400" dirty="0">
                          <a:solidFill>
                            <a:srgbClr val="000000"/>
                          </a:solidFill>
                          <a:latin typeface="Sora" pitchFamily="34" charset="0"/>
                          <a:ea typeface="Sora" pitchFamily="34" charset="-122"/>
                          <a:cs typeface="Sora" pitchFamily="34" charset="0"/>
                        </a:rPr>
                        <a:t>Pass</a:t>
                      </a:r>
                      <a:endParaRPr lang="en-US" sz="1400" dirty="0">
                        <a:latin typeface="Sora" charset="0"/>
                        <a:ea typeface="Sora" charset="0"/>
                        <a:cs typeface="Sora" charset="0"/>
                      </a:endParaRPr>
                    </a:p>
                  </a:txBody>
                  <a:tcPr marL="133347" marR="133347" marT="71118" marB="71118" anchor="ctr">
                    <a:lnL w="12700" cap="flat" cmpd="sng" algn="ctr">
                      <a:solidFill>
                        <a:srgbClr val="FAFBFD"/>
                      </a:solidFill>
                      <a:prstDash val="solid"/>
                      <a:round/>
                      <a:headEnd type="none" w="med" len="med"/>
                      <a:tailEnd type="none" w="med" len="med"/>
                    </a:lnL>
                    <a:lnR w="12700" cap="flat" cmpd="sng" algn="ctr">
                      <a:solidFill>
                        <a:srgbClr val="FAFBFD"/>
                      </a:solidFill>
                      <a:prstDash val="solid"/>
                      <a:round/>
                      <a:headEnd type="none" w="med" len="med"/>
                      <a:tailEnd type="none" w="med" len="med"/>
                    </a:lnR>
                    <a:lnT w="12700" cap="flat" cmpd="sng" algn="ctr">
                      <a:solidFill>
                        <a:srgbClr val="2E6E9E"/>
                      </a:solidFill>
                      <a:prstDash val="solid"/>
                      <a:round/>
                      <a:headEnd type="none" w="med" len="med"/>
                      <a:tailEnd type="none" w="med" len="med"/>
                    </a:lnT>
                    <a:lnB w="12700" cap="flat" cmpd="sng" algn="ctr">
                      <a:solidFill>
                        <a:srgbClr val="FAFBF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076998" y="2712641"/>
            <a:ext cx="3657509" cy="3618706"/>
          </a:xfrm>
          <a:prstGeom prst="rect">
            <a:avLst/>
          </a:prstGeom>
          <a:solidFill>
            <a:srgbClr val="A9D7FF"/>
          </a:solidFill>
          <a:ln/>
        </p:spPr>
      </p:sp>
      <p:sp>
        <p:nvSpPr>
          <p:cNvPr id="7" name="Text 4"/>
          <p:cNvSpPr/>
          <p:nvPr/>
        </p:nvSpPr>
        <p:spPr>
          <a:xfrm>
            <a:off x="8305592" y="2957116"/>
            <a:ext cx="3200320" cy="279400"/>
          </a:xfrm>
          <a:prstGeom prst="rect">
            <a:avLst/>
          </a:prstGeom>
          <a:noFill/>
          <a:ln/>
        </p:spPr>
        <p:txBody>
          <a:bodyPr wrap="none" lIns="0" tIns="0" rIns="0" bIns="0" rtlCol="0" anchor="t"/>
          <a:lstStyle/>
          <a:p>
            <a:pPr marL="0" indent="0" algn="l">
              <a:lnSpc>
                <a:spcPct val="92000"/>
              </a:lnSpc>
              <a:buNone/>
            </a:pPr>
            <a:r>
              <a:rPr lang="en-US" sz="2000" dirty="0">
                <a:solidFill>
                  <a:srgbClr val="000000"/>
                </a:solidFill>
                <a:latin typeface="Sora Light" pitchFamily="34" charset="0"/>
                <a:ea typeface="Sora Light" pitchFamily="34" charset="-122"/>
                <a:cs typeface="Sora Light" pitchFamily="34" charset="0"/>
              </a:rPr>
              <a:t>Future enhancements</a:t>
            </a:r>
            <a:endParaRPr lang="en-US" sz="2000" dirty="0"/>
          </a:p>
        </p:txBody>
      </p:sp>
      <p:sp>
        <p:nvSpPr>
          <p:cNvPr id="8" name="Text 5"/>
          <p:cNvSpPr/>
          <p:nvPr/>
        </p:nvSpPr>
        <p:spPr>
          <a:xfrm>
            <a:off x="8305592" y="3347641"/>
            <a:ext cx="3200320" cy="27551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Payment gateway integration</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SMS notification service</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WhatsApp integration</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AI-based passenger assistant</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Live flight-tracking API integration</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Cloud deployment with Kubernetes</a:t>
            </a:r>
            <a:endParaRPr lang="en-US" sz="1400" dirty="0"/>
          </a:p>
          <a:p>
            <a:pPr marL="284480" indent="-284480" algn="l">
              <a:lnSpc>
                <a:spcPct val="117000"/>
              </a:lnSpc>
              <a:buSzPct val="100000"/>
              <a:buChar char="•"/>
            </a:pPr>
            <a:r>
              <a:rPr lang="en-US" sz="1400" dirty="0">
                <a:solidFill>
                  <a:srgbClr val="000000"/>
                </a:solidFill>
                <a:latin typeface="Sora ExtraLight" pitchFamily="34" charset="0"/>
                <a:ea typeface="Sora ExtraLight" pitchFamily="34" charset="-122"/>
                <a:cs typeface="Sora ExtraLight" pitchFamily="34" charset="0"/>
              </a:rPr>
              <a:t>Passenger feedback and rating system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831829" y="1234380"/>
            <a:ext cx="7403915" cy="3175000"/>
          </a:xfrm>
          <a:prstGeom prst="rect">
            <a:avLst/>
          </a:prstGeom>
          <a:noFill/>
          <a:ln/>
        </p:spPr>
        <p:txBody>
          <a:bodyPr wrap="square" lIns="0" tIns="0" rIns="0" bIns="0" rtlCol="0" anchor="t">
            <a:normAutofit/>
          </a:bodyPr>
          <a:lstStyle/>
          <a:p>
            <a:pPr marL="0" indent="0" algn="l">
              <a:lnSpc>
                <a:spcPct val="83000"/>
              </a:lnSpc>
              <a:buNone/>
            </a:pPr>
            <a:endParaRPr lang="en-US" sz="5000" dirty="0"/>
          </a:p>
        </p:txBody>
      </p:sp>
      <p:sp>
        <p:nvSpPr>
          <p:cNvPr id="5" name="Text 3"/>
          <p:cNvSpPr/>
          <p:nvPr/>
        </p:nvSpPr>
        <p:spPr>
          <a:xfrm>
            <a:off x="2394042" y="2821880"/>
            <a:ext cx="7403915" cy="279400"/>
          </a:xfrm>
          <a:prstGeom prst="rect">
            <a:avLst/>
          </a:prstGeom>
          <a:noFill/>
          <a:ln/>
        </p:spPr>
        <p:txBody>
          <a:bodyPr wrap="none" lIns="0" tIns="0" rIns="0" bIns="0" rtlCol="0" anchor="t"/>
          <a:lstStyle/>
          <a:p>
            <a:pPr marL="0" indent="0" algn="ctr">
              <a:lnSpc>
                <a:spcPct val="92000"/>
              </a:lnSpc>
              <a:buNone/>
            </a:pPr>
            <a:r>
              <a:rPr lang="en-US" sz="5400" dirty="0">
                <a:latin typeface="Sora Light" pitchFamily="34" charset="0"/>
                <a:ea typeface="Sora Light" pitchFamily="34" charset="-122"/>
                <a:cs typeface="Sora Light" pitchFamily="34" charset="0"/>
              </a:rPr>
              <a:t>Thank You</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TotalTime>
  <Words>830</Words>
  <Application>Microsoft Office PowerPoint</Application>
  <PresentationFormat>Widescreen</PresentationFormat>
  <Paragraphs>131</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Sora SemiBold</vt:lpstr>
      <vt:lpstr>Sora Light</vt:lpstr>
      <vt:lpstr>Calibri</vt:lpstr>
      <vt:lpstr>Arial</vt:lpstr>
      <vt:lpstr>Calibri Light</vt:lpstr>
      <vt:lpstr>Sora ExtraLight</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pratham danawala</cp:lastModifiedBy>
  <cp:revision>6</cp:revision>
  <dcterms:created xsi:type="dcterms:W3CDTF">2026-10-23T17:35:53Z</dcterms:created>
  <dcterms:modified xsi:type="dcterms:W3CDTF">2026-10-23T17:48:40Z</dcterms:modified>
</cp:coreProperties>
</file>